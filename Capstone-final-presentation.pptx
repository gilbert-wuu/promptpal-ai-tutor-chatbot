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Albert Sans"/>
      <p:regular r:id="rId26"/>
      <p:bold r:id="rId27"/>
      <p:italic r:id="rId28"/>
      <p:boldItalic r:id="rId29"/>
    </p:embeddedFont>
    <p:embeddedFont>
      <p:font typeface="Helvetica Neue Light"/>
      <p:regular r:id="rId30"/>
      <p:bold r:id="rId31"/>
      <p:italic r:id="rId32"/>
      <p:boldItalic r:id="rId33"/>
    </p:embeddedFont>
    <p:embeddedFont>
      <p:font typeface="Open Sans Light"/>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4EB67F-FD1A-4A85-807B-C8CDE5A2BA3A}">
  <a:tblStyle styleId="{DC4EB67F-FD1A-4A85-807B-C8CDE5A2BA3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C1B577F-C3AA-4619-838E-368C5E0619C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4.xml"/><Relationship Id="rId41"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lbertSans-regular.fntdata"/><Relationship Id="rId25" Type="http://schemas.openxmlformats.org/officeDocument/2006/relationships/slide" Target="slides/slide19.xml"/><Relationship Id="rId28" Type="http://schemas.openxmlformats.org/officeDocument/2006/relationships/font" Target="fonts/AlbertSans-italic.fntdata"/><Relationship Id="rId27" Type="http://schemas.openxmlformats.org/officeDocument/2006/relationships/font" Target="fonts/Albert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lbertSans-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Light-bold.fntdata"/><Relationship Id="rId30" Type="http://schemas.openxmlformats.org/officeDocument/2006/relationships/font" Target="fonts/HelveticaNeueLight-regular.fntdata"/><Relationship Id="rId11" Type="http://schemas.openxmlformats.org/officeDocument/2006/relationships/slide" Target="slides/slide5.xml"/><Relationship Id="rId33" Type="http://schemas.openxmlformats.org/officeDocument/2006/relationships/font" Target="fonts/HelveticaNeueLight-boldItalic.fntdata"/><Relationship Id="rId10" Type="http://schemas.openxmlformats.org/officeDocument/2006/relationships/slide" Target="slides/slide4.xml"/><Relationship Id="rId32" Type="http://schemas.openxmlformats.org/officeDocument/2006/relationships/font" Target="fonts/HelveticaNeueLight-italic.fntdata"/><Relationship Id="rId13" Type="http://schemas.openxmlformats.org/officeDocument/2006/relationships/slide" Target="slides/slide7.xml"/><Relationship Id="rId35" Type="http://schemas.openxmlformats.org/officeDocument/2006/relationships/font" Target="fonts/OpenSansLight-bold.fntdata"/><Relationship Id="rId12" Type="http://schemas.openxmlformats.org/officeDocument/2006/relationships/slide" Target="slides/slide6.xml"/><Relationship Id="rId34" Type="http://schemas.openxmlformats.org/officeDocument/2006/relationships/font" Target="fonts/OpenSansLight-regular.fntdata"/><Relationship Id="rId15" Type="http://schemas.openxmlformats.org/officeDocument/2006/relationships/slide" Target="slides/slide9.xml"/><Relationship Id="rId37" Type="http://schemas.openxmlformats.org/officeDocument/2006/relationships/font" Target="fonts/OpenSansLight-boldItalic.fntdata"/><Relationship Id="rId14" Type="http://schemas.openxmlformats.org/officeDocument/2006/relationships/slide" Target="slides/slide8.xml"/><Relationship Id="rId36" Type="http://schemas.openxmlformats.org/officeDocument/2006/relationships/font" Target="fonts/OpenSansLight-italic.fntdata"/><Relationship Id="rId17" Type="http://schemas.openxmlformats.org/officeDocument/2006/relationships/slide" Target="slides/slide11.xml"/><Relationship Id="rId39" Type="http://schemas.openxmlformats.org/officeDocument/2006/relationships/font" Target="fonts/OpenSans-bold.fntdata"/><Relationship Id="rId16" Type="http://schemas.openxmlformats.org/officeDocument/2006/relationships/slide" Target="slides/slide10.xml"/><Relationship Id="rId38" Type="http://schemas.openxmlformats.org/officeDocument/2006/relationships/font" Target="fonts/Open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1pPr>
            <a:lvl2pPr indent="-228600" lvl="1" marL="9144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3pPr>
            <a:lvl4pPr indent="-228600" lvl="3" marL="18288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4pPr>
            <a:lvl5pPr indent="-228600" lvl="4" marL="22860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“Good morning everyone, and thank you for being here.</a:t>
            </a:r>
            <a:br>
              <a:rPr lang="en-US" sz="1100">
                <a:latin typeface="Arial"/>
                <a:ea typeface="Arial"/>
                <a:cs typeface="Arial"/>
                <a:sym typeface="Arial"/>
              </a:rPr>
            </a:br>
            <a:r>
              <a:rPr lang="en-US" sz="1100">
                <a:latin typeface="Arial"/>
                <a:ea typeface="Arial"/>
                <a:cs typeface="Arial"/>
                <a:sym typeface="Arial"/>
              </a:rPr>
              <a:t> We’re excited to present our capstone project: </a:t>
            </a:r>
            <a:r>
              <a:rPr b="1" lang="en-US" sz="1100">
                <a:latin typeface="Arial"/>
                <a:ea typeface="Arial"/>
                <a:cs typeface="Arial"/>
                <a:sym typeface="Arial"/>
              </a:rPr>
              <a:t>PromptPal — an AI literacy and enablement platform designed specifically for Federated Hermes</a:t>
            </a:r>
            <a:r>
              <a:rPr lang="en-US" sz="1100">
                <a:latin typeface="Arial"/>
                <a:ea typeface="Arial"/>
                <a:cs typeface="Arial"/>
                <a:sym typeface="Arial"/>
              </a:rPr>
              <a:t>. Over the past semester, our team collaborated closely with the federated teams to build an adaptive learning system that helps employees confidently and effectively use AI in their daily workflows. Today, we’ll walk you through the problem, our solution, and a live demo of the platform."</a:t>
            </a:r>
            <a:endParaRPr sz="11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b1bb47a22_0_3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59" name="Google Shape;59;g39b1bb47a22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g39b1bb47a22_0_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c79d08f34_4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77" name="Google Shape;77;g3ac79d08f34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g3ac79d08f34_4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Times"/>
                <a:ea typeface="Times"/>
                <a:cs typeface="Times"/>
                <a:sym typeface="Times"/>
              </a:rPr>
              <a:t>PromptPal integrates FHI’s internal knowledge, learning content, and competency frameworks into a unified training platform.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b8102d305_0_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89" name="Google Shape;89;g3ab8102d305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g3ab8102d305_0_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b8102d305_0_2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96" name="Google Shape;96;g3ab8102d305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ab8102d305_0_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b8102d305_0_3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05" name="Google Shape;105;g3ab8102d305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g3ab8102d305_0_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d4eabb185_1_1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12" name="Google Shape;112;g3ad4eabb185_1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g3ad4eabb185_1_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d4eabb185_1_3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22" name="Google Shape;122;g3ad4eabb185_1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ad4eabb185_1_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b8102d305_0_4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31" name="Google Shape;131;g3ab8102d305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g3ab8102d305_0_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b8102d305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b8102d305_0_1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 name="Google Shape;144;g3ab8102d305_0_12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b8102d305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b8102d305_0_3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g3ab8102d305_0_38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b8102d305_0_13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70" name="Google Shape;170;g3ab8102d305_0_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3ab8102d305_0_1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c79d08f3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c79d08f34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g3ac79d08f34_1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b8102d305_0_36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199" name="Google Shape;199;g3ab8102d305_0_3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g3ab8102d305_0_3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b8102d305_0_23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217" name="Google Shape;217;g3ab8102d305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ab8102d305_0_2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b8102d305_0_24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225" name="Google Shape;225;g3ab8102d305_0_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g3ab8102d305_0_2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d4eabb185_1_5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233" name="Google Shape;233;g3ad4eabb185_1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g3ad4eabb185_1_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9b71c98f1a_0_11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241" name="Google Shape;241;g39b71c98f1a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g39b71c98f1a_0_1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b71c98f1a_0_11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
        <p:nvSpPr>
          <p:cNvPr id="249" name="Google Shape;249;g39b71c98f1a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9b71c98f1a_0_1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0" name="Shape 20"/>
        <p:cNvGrpSpPr/>
        <p:nvPr/>
      </p:nvGrpSpPr>
      <p:grpSpPr>
        <a:xfrm>
          <a:off x="0" y="0"/>
          <a:ext cx="0" cy="0"/>
          <a:chOff x="0" y="0"/>
          <a:chExt cx="0" cy="0"/>
        </a:xfrm>
      </p:grpSpPr>
      <p:sp>
        <p:nvSpPr>
          <p:cNvPr id="21" name="Google Shape;21;p2"/>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2" name="Google Shape;22;p2"/>
          <p:cNvPicPr preferRelativeResize="0"/>
          <p:nvPr/>
        </p:nvPicPr>
        <p:blipFill rotWithShape="1">
          <a:blip r:embed="rId2">
            <a:alphaModFix/>
          </a:blip>
          <a:srcRect b="0" l="0" r="0" t="0"/>
          <a:stretch/>
        </p:blipFill>
        <p:spPr>
          <a:xfrm>
            <a:off x="2209800" y="895350"/>
            <a:ext cx="3429000" cy="306388"/>
          </a:xfrm>
          <a:prstGeom prst="rect">
            <a:avLst/>
          </a:prstGeom>
          <a:noFill/>
          <a:ln>
            <a:noFill/>
          </a:ln>
        </p:spPr>
      </p:pic>
      <p:pic>
        <p:nvPicPr>
          <p:cNvPr descr="_Plaid-Digital_FINAL-NEW.png" id="23" name="Google Shape;23;p2"/>
          <p:cNvPicPr preferRelativeResize="0"/>
          <p:nvPr/>
        </p:nvPicPr>
        <p:blipFill rotWithShape="1">
          <a:blip r:embed="rId3">
            <a:alphaModFix/>
          </a:blip>
          <a:srcRect b="1990" l="84737" r="4771" t="23988"/>
          <a:stretch/>
        </p:blipFill>
        <p:spPr>
          <a:xfrm>
            <a:off x="457200" y="0"/>
            <a:ext cx="790575" cy="5143500"/>
          </a:xfrm>
          <a:prstGeom prst="rect">
            <a:avLst/>
          </a:prstGeom>
          <a:noFill/>
          <a:ln>
            <a:noFill/>
          </a:ln>
        </p:spPr>
      </p:pic>
      <p:sp>
        <p:nvSpPr>
          <p:cNvPr id="24" name="Google Shape;24;p2"/>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5" name="Google Shape;25;p2"/>
          <p:cNvPicPr preferRelativeResize="0"/>
          <p:nvPr/>
        </p:nvPicPr>
        <p:blipFill rotWithShape="1">
          <a:blip r:embed="rId2">
            <a:alphaModFix/>
          </a:blip>
          <a:srcRect b="0" l="0" r="0" t="0"/>
          <a:stretch/>
        </p:blipFill>
        <p:spPr>
          <a:xfrm>
            <a:off x="2209800" y="895350"/>
            <a:ext cx="3429000" cy="306388"/>
          </a:xfrm>
          <a:prstGeom prst="rect">
            <a:avLst/>
          </a:prstGeom>
          <a:noFill/>
          <a:ln>
            <a:noFill/>
          </a:ln>
        </p:spPr>
      </p:pic>
      <p:pic>
        <p:nvPicPr>
          <p:cNvPr descr="_Plaid-Digital_FINAL-NEW.png" id="26" name="Google Shape;26;p2"/>
          <p:cNvPicPr preferRelativeResize="0"/>
          <p:nvPr/>
        </p:nvPicPr>
        <p:blipFill rotWithShape="1">
          <a:blip r:embed="rId3">
            <a:alphaModFix/>
          </a:blip>
          <a:srcRect b="1990" l="84737" r="4771" t="23988"/>
          <a:stretch/>
        </p:blipFill>
        <p:spPr>
          <a:xfrm>
            <a:off x="457200" y="0"/>
            <a:ext cx="790575"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sp>
        <p:nvSpPr>
          <p:cNvPr id="29" name="Google Shape;29;p4"/>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30" name="Shape 30"/>
        <p:cNvGrpSpPr/>
        <p:nvPr/>
      </p:nvGrpSpPr>
      <p:grpSpPr>
        <a:xfrm>
          <a:off x="0" y="0"/>
          <a:ext cx="0" cy="0"/>
          <a:chOff x="0" y="0"/>
          <a:chExt cx="0" cy="0"/>
        </a:xfrm>
      </p:grpSpPr>
      <p:sp>
        <p:nvSpPr>
          <p:cNvPr id="31" name="Google Shape;31;p5"/>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 type="body"/>
          </p:nvPr>
        </p:nvSpPr>
        <p:spPr>
          <a:xfrm>
            <a:off x="457200" y="1200150"/>
            <a:ext cx="82296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p:cSld name="2 Column">
    <p:spTree>
      <p:nvGrpSpPr>
        <p:cNvPr id="33" name="Shape 33"/>
        <p:cNvGrpSpPr/>
        <p:nvPr/>
      </p:nvGrpSpPr>
      <p:grpSpPr>
        <a:xfrm>
          <a:off x="0" y="0"/>
          <a:ext cx="0" cy="0"/>
          <a:chOff x="0" y="0"/>
          <a:chExt cx="0" cy="0"/>
        </a:xfrm>
      </p:grpSpPr>
      <p:sp>
        <p:nvSpPr>
          <p:cNvPr id="34" name="Google Shape;34;p6"/>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 type="body"/>
          </p:nvPr>
        </p:nvSpPr>
        <p:spPr>
          <a:xfrm>
            <a:off x="457200" y="1200150"/>
            <a:ext cx="39624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
          <p:cNvSpPr txBox="1"/>
          <p:nvPr>
            <p:ph idx="2" type="body"/>
          </p:nvPr>
        </p:nvSpPr>
        <p:spPr>
          <a:xfrm>
            <a:off x="4727448" y="1212300"/>
            <a:ext cx="3959352"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37" name="Shape 37"/>
        <p:cNvGrpSpPr/>
        <p:nvPr/>
      </p:nvGrpSpPr>
      <p:grpSpPr>
        <a:xfrm>
          <a:off x="0" y="0"/>
          <a:ext cx="0" cy="0"/>
          <a:chOff x="0" y="0"/>
          <a:chExt cx="0" cy="0"/>
        </a:xfrm>
      </p:grpSpPr>
      <p:sp>
        <p:nvSpPr>
          <p:cNvPr id="38" name="Google Shape;38;p7"/>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 type="body"/>
          </p:nvPr>
        </p:nvSpPr>
        <p:spPr>
          <a:xfrm>
            <a:off x="4572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7"/>
          <p:cNvSpPr txBox="1"/>
          <p:nvPr>
            <p:ph idx="2" type="body"/>
          </p:nvPr>
        </p:nvSpPr>
        <p:spPr>
          <a:xfrm>
            <a:off x="32766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7"/>
          <p:cNvSpPr txBox="1"/>
          <p:nvPr>
            <p:ph idx="3" type="body"/>
          </p:nvPr>
        </p:nvSpPr>
        <p:spPr>
          <a:xfrm>
            <a:off x="60960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
  <p:cSld name="4 Column">
    <p:spTree>
      <p:nvGrpSpPr>
        <p:cNvPr id="42" name="Shape 42"/>
        <p:cNvGrpSpPr/>
        <p:nvPr/>
      </p:nvGrpSpPr>
      <p:grpSpPr>
        <a:xfrm>
          <a:off x="0" y="0"/>
          <a:ext cx="0" cy="0"/>
          <a:chOff x="0" y="0"/>
          <a:chExt cx="0" cy="0"/>
        </a:xfrm>
      </p:grpSpPr>
      <p:sp>
        <p:nvSpPr>
          <p:cNvPr id="43" name="Google Shape;43;p8"/>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 type="body"/>
          </p:nvPr>
        </p:nvSpPr>
        <p:spPr>
          <a:xfrm>
            <a:off x="4572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8"/>
          <p:cNvSpPr txBox="1"/>
          <p:nvPr>
            <p:ph idx="2" type="body"/>
          </p:nvPr>
        </p:nvSpPr>
        <p:spPr>
          <a:xfrm>
            <a:off x="25654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8"/>
          <p:cNvSpPr txBox="1"/>
          <p:nvPr>
            <p:ph idx="3" type="body"/>
          </p:nvPr>
        </p:nvSpPr>
        <p:spPr>
          <a:xfrm>
            <a:off x="46736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8"/>
          <p:cNvSpPr txBox="1"/>
          <p:nvPr>
            <p:ph idx="4" type="body"/>
          </p:nvPr>
        </p:nvSpPr>
        <p:spPr>
          <a:xfrm>
            <a:off x="67818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10" Type="http://schemas.openxmlformats.org/officeDocument/2006/relationships/theme" Target="../theme/theme1.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_Plaid-Digital_FINAL-NEW.png" id="10" name="Google Shape;10;p1"/>
          <p:cNvPicPr preferRelativeResize="0"/>
          <p:nvPr/>
        </p:nvPicPr>
        <p:blipFill rotWithShape="1">
          <a:blip r:embed="rId1">
            <a:alphaModFix/>
          </a:blip>
          <a:srcRect b="2893" l="59550" r="39888" t="20876"/>
          <a:stretch/>
        </p:blipFill>
        <p:spPr>
          <a:xfrm rot="5400000">
            <a:off x="3798887" y="1046163"/>
            <a:ext cx="60325" cy="7658100"/>
          </a:xfrm>
          <a:prstGeom prst="rect">
            <a:avLst/>
          </a:prstGeom>
          <a:noFill/>
          <a:ln>
            <a:noFill/>
          </a:ln>
        </p:spPr>
      </p:pic>
      <p:pic>
        <p:nvPicPr>
          <p:cNvPr descr="_Plaid-Digital_FINAL-NEW.png" id="11" name="Google Shape;11;p1"/>
          <p:cNvPicPr preferRelativeResize="0"/>
          <p:nvPr/>
        </p:nvPicPr>
        <p:blipFill rotWithShape="1">
          <a:blip r:embed="rId1">
            <a:alphaModFix/>
          </a:blip>
          <a:srcRect b="2893" l="59550" r="39888" t="20876"/>
          <a:stretch/>
        </p:blipFill>
        <p:spPr>
          <a:xfrm rot="5400000">
            <a:off x="3798887" y="1046163"/>
            <a:ext cx="60325" cy="7658100"/>
          </a:xfrm>
          <a:prstGeom prst="rect">
            <a:avLst/>
          </a:prstGeom>
          <a:noFill/>
          <a:ln>
            <a:noFill/>
          </a:ln>
        </p:spPr>
      </p:pic>
      <p:sp>
        <p:nvSpPr>
          <p:cNvPr id="12" name="Google Shape;12;p1"/>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4200" u="none" cap="none" strike="noStrike">
                <a:solidFill>
                  <a:schemeClr val="dk2"/>
                </a:solidFill>
                <a:latin typeface="Times"/>
                <a:ea typeface="Times"/>
                <a:cs typeface="Times"/>
                <a:sym typeface="Times"/>
              </a:defRPr>
            </a:lvl6pPr>
            <a:lvl7pPr lvl="6" marR="0" rtl="0" algn="l">
              <a:spcBef>
                <a:spcPts val="0"/>
              </a:spcBef>
              <a:spcAft>
                <a:spcPts val="0"/>
              </a:spcAft>
              <a:buSzPts val="1400"/>
              <a:buNone/>
              <a:defRPr b="0" i="0" sz="4200" u="none" cap="none" strike="noStrike">
                <a:solidFill>
                  <a:schemeClr val="dk2"/>
                </a:solidFill>
                <a:latin typeface="Times"/>
                <a:ea typeface="Times"/>
                <a:cs typeface="Times"/>
                <a:sym typeface="Times"/>
              </a:defRPr>
            </a:lvl7pPr>
            <a:lvl8pPr lvl="7" marR="0" rtl="0" algn="l">
              <a:spcBef>
                <a:spcPts val="0"/>
              </a:spcBef>
              <a:spcAft>
                <a:spcPts val="0"/>
              </a:spcAft>
              <a:buSzPts val="1400"/>
              <a:buNone/>
              <a:defRPr b="0" i="0" sz="4200" u="none" cap="none" strike="noStrike">
                <a:solidFill>
                  <a:schemeClr val="dk2"/>
                </a:solidFill>
                <a:latin typeface="Times"/>
                <a:ea typeface="Times"/>
                <a:cs typeface="Times"/>
                <a:sym typeface="Times"/>
              </a:defRPr>
            </a:lvl8pPr>
            <a:lvl9pPr lvl="8" marR="0" rtl="0" algn="l">
              <a:spcBef>
                <a:spcPts val="0"/>
              </a:spcBef>
              <a:spcAft>
                <a:spcPts val="0"/>
              </a:spcAft>
              <a:buSzPts val="1400"/>
              <a:buNone/>
              <a:defRPr b="0" i="0" sz="4200" u="none" cap="none" strike="noStrike">
                <a:solidFill>
                  <a:schemeClr val="dk2"/>
                </a:solidFill>
                <a:latin typeface="Times"/>
                <a:ea typeface="Times"/>
                <a:cs typeface="Times"/>
                <a:sym typeface="Times"/>
              </a:defRPr>
            </a:lvl9pPr>
          </a:lstStyle>
          <a:p/>
        </p:txBody>
      </p:sp>
      <p:sp>
        <p:nvSpPr>
          <p:cNvPr id="13" name="Google Shape;13;p1"/>
          <p:cNvSpPr txBox="1"/>
          <p:nvPr>
            <p:ph idx="1" type="body"/>
          </p:nvPr>
        </p:nvSpPr>
        <p:spPr>
          <a:xfrm>
            <a:off x="457200" y="1200150"/>
            <a:ext cx="8229600" cy="3505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600"/>
              </a:spcBef>
              <a:spcAft>
                <a:spcPts val="0"/>
              </a:spcAft>
              <a:buSzPts val="1400"/>
              <a:buNone/>
              <a:defRPr b="0" i="0" sz="1400" u="none" cap="none" strike="noStrike">
                <a:solidFill>
                  <a:schemeClr val="dk1"/>
                </a:solidFill>
                <a:latin typeface="Open Sans"/>
                <a:ea typeface="Open Sans"/>
                <a:cs typeface="Open Sans"/>
                <a:sym typeface="Open Sans"/>
              </a:defRPr>
            </a:lvl1pPr>
            <a:lvl2pPr indent="-326390" lvl="1" marL="914400" marR="0" rtl="0" algn="l">
              <a:spcBef>
                <a:spcPts val="600"/>
              </a:spcBef>
              <a:spcAft>
                <a:spcPts val="0"/>
              </a:spcAft>
              <a:buClr>
                <a:schemeClr val="dk1"/>
              </a:buClr>
              <a:buSzPts val="1540"/>
              <a:buFont typeface="Arial"/>
              <a:buChar char="•"/>
              <a:defRPr b="0" i="0" sz="1400" u="none" cap="none" strike="noStrike">
                <a:solidFill>
                  <a:schemeClr val="dk1"/>
                </a:solidFill>
                <a:latin typeface="Open Sans"/>
                <a:ea typeface="Open Sans"/>
                <a:cs typeface="Open Sans"/>
                <a:sym typeface="Open Sans"/>
              </a:defRPr>
            </a:lvl2pPr>
            <a:lvl3pPr indent="-326390" lvl="2" marL="1371600" marR="0" rtl="0" algn="l">
              <a:spcBef>
                <a:spcPts val="600"/>
              </a:spcBef>
              <a:spcAft>
                <a:spcPts val="0"/>
              </a:spcAft>
              <a:buClr>
                <a:schemeClr val="dk1"/>
              </a:buClr>
              <a:buSzPts val="1540"/>
              <a:buFont typeface="Arial"/>
              <a:buChar char="–"/>
              <a:defRPr b="0" i="1" sz="1400" u="none" cap="none" strike="noStrike">
                <a:solidFill>
                  <a:schemeClr val="dk1"/>
                </a:solidFill>
                <a:latin typeface="Open Sans"/>
                <a:ea typeface="Open Sans"/>
                <a:cs typeface="Open Sans"/>
                <a:sym typeface="Open Sans"/>
              </a:defRPr>
            </a:lvl3pPr>
            <a:lvl4pPr indent="-326390" lvl="3" marL="1828800" marR="0" rtl="0" algn="l">
              <a:spcBef>
                <a:spcPts val="600"/>
              </a:spcBef>
              <a:spcAft>
                <a:spcPts val="0"/>
              </a:spcAft>
              <a:buClr>
                <a:schemeClr val="dk1"/>
              </a:buClr>
              <a:buSzPts val="1540"/>
              <a:buFont typeface="Arial"/>
              <a:buChar char="•"/>
              <a:defRPr b="0" i="0" sz="1400" u="none" cap="none" strike="noStrike">
                <a:solidFill>
                  <a:schemeClr val="dk1"/>
                </a:solidFill>
                <a:latin typeface="Open Sans"/>
                <a:ea typeface="Open Sans"/>
                <a:cs typeface="Open Sans"/>
                <a:sym typeface="Open Sans"/>
              </a:defRPr>
            </a:lvl4pPr>
            <a:lvl5pPr indent="-326390" lvl="4" marL="2286000" marR="0" rtl="0" algn="l">
              <a:spcBef>
                <a:spcPts val="600"/>
              </a:spcBef>
              <a:spcAft>
                <a:spcPts val="0"/>
              </a:spcAft>
              <a:buClr>
                <a:schemeClr val="dk1"/>
              </a:buClr>
              <a:buSzPts val="1540"/>
              <a:buFont typeface="Arial"/>
              <a:buChar char="–"/>
              <a:defRPr b="0" i="1" sz="1400" u="none" cap="none" strike="noStrike">
                <a:solidFill>
                  <a:schemeClr val="dk1"/>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id="14" name="Google Shape;14;p1"/>
          <p:cNvPicPr preferRelativeResize="0"/>
          <p:nvPr/>
        </p:nvPicPr>
        <p:blipFill rotWithShape="1">
          <a:blip r:embed="rId2">
            <a:alphaModFix/>
          </a:blip>
          <a:srcRect b="0" l="0" r="0" t="0"/>
          <a:stretch/>
        </p:blipFill>
        <p:spPr>
          <a:xfrm>
            <a:off x="7772400" y="4248150"/>
            <a:ext cx="1154590" cy="736392"/>
          </a:xfrm>
          <a:prstGeom prst="rect">
            <a:avLst/>
          </a:prstGeom>
          <a:noFill/>
          <a:ln>
            <a:noFill/>
          </a:ln>
        </p:spPr>
      </p:pic>
      <p:sp>
        <p:nvSpPr>
          <p:cNvPr id="15" name="Google Shape;15;p1"/>
          <p:cNvSpPr txBox="1"/>
          <p:nvPr>
            <p:ph idx="12" type="sldNum"/>
          </p:nvPr>
        </p:nvSpPr>
        <p:spPr>
          <a:xfrm>
            <a:off x="11073918" y="6400413"/>
            <a:ext cx="279883" cy="276999"/>
          </a:xfrm>
          <a:prstGeom prst="rect">
            <a:avLst/>
          </a:prstGeom>
          <a:noFill/>
          <a:ln>
            <a:noFill/>
          </a:ln>
        </p:spPr>
        <p:txBody>
          <a:bodyPr anchorCtr="0" anchor="ctr" bIns="45700" lIns="45700" spcFirstLastPara="1" rIns="45700" wrap="square" tIns="45700">
            <a:spAutoFit/>
          </a:bodyPr>
          <a:lstStyle>
            <a:lvl1pPr indent="0" lvl="0"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1"/>
          <p:cNvSpPr txBox="1"/>
          <p:nvPr/>
        </p:nvSpPr>
        <p:spPr>
          <a:xfrm>
            <a:off x="11226318" y="65528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7" name="Google Shape;17;p1"/>
          <p:cNvSpPr txBox="1"/>
          <p:nvPr/>
        </p:nvSpPr>
        <p:spPr>
          <a:xfrm>
            <a:off x="11378718" y="67052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8" name="Google Shape;18;p1"/>
          <p:cNvSpPr txBox="1"/>
          <p:nvPr/>
        </p:nvSpPr>
        <p:spPr>
          <a:xfrm>
            <a:off x="11531118" y="68576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9" name="Google Shape;19;p1"/>
          <p:cNvSpPr txBox="1"/>
          <p:nvPr/>
        </p:nvSpPr>
        <p:spPr>
          <a:xfrm>
            <a:off x="8534400" y="100340"/>
            <a:ext cx="506890"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100" u="none" cap="none" strike="noStrike">
                <a:solidFill>
                  <a:srgbClr val="7F7F7F"/>
                </a:solidFill>
                <a:latin typeface="Helvetica Neue Light"/>
                <a:ea typeface="Helvetica Neue Light"/>
                <a:cs typeface="Helvetica Neue Light"/>
                <a:sym typeface="Helvetica Neue Light"/>
              </a:rPr>
              <a:t>‹#›</a:t>
            </a:fld>
            <a:endParaRPr b="0" i="0" sz="1100" u="none" cap="none" strike="noStrike">
              <a:solidFill>
                <a:srgbClr val="7F7F7F"/>
              </a:solidFill>
              <a:latin typeface="Helvetica Neue Light"/>
              <a:ea typeface="Helvetica Neue Light"/>
              <a:cs typeface="Helvetica Neue Light"/>
              <a:sym typeface="Helvetica Neue Light"/>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9.jp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drive.google.com/file/d/1TAPKJsGt0BH6lTQQNfhsFKEk0UsNcgKR/view" TargetMode="Externa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cxnSp>
        <p:nvCxnSpPr>
          <p:cNvPr id="53" name="Google Shape;53;p9"/>
          <p:cNvCxnSpPr/>
          <p:nvPr/>
        </p:nvCxnSpPr>
        <p:spPr>
          <a:xfrm>
            <a:off x="2209800" y="3486150"/>
            <a:ext cx="5486400" cy="0"/>
          </a:xfrm>
          <a:prstGeom prst="straightConnector1">
            <a:avLst/>
          </a:prstGeom>
          <a:noFill/>
          <a:ln cap="flat" cmpd="sng" w="9525">
            <a:solidFill>
              <a:srgbClr val="FFFFFF"/>
            </a:solidFill>
            <a:prstDash val="solid"/>
            <a:round/>
            <a:headEnd len="med" w="med" type="none"/>
            <a:tailEnd len="med" w="med" type="none"/>
          </a:ln>
        </p:spPr>
      </p:cxnSp>
      <p:sp>
        <p:nvSpPr>
          <p:cNvPr id="54" name="Google Shape;54;p9"/>
          <p:cNvSpPr txBox="1"/>
          <p:nvPr/>
        </p:nvSpPr>
        <p:spPr>
          <a:xfrm>
            <a:off x="182250" y="1660075"/>
            <a:ext cx="8779500" cy="1139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100">
                <a:solidFill>
                  <a:schemeClr val="dk1"/>
                </a:solidFill>
                <a:latin typeface="Times"/>
                <a:ea typeface="Times"/>
                <a:cs typeface="Times"/>
                <a:sym typeface="Times"/>
              </a:rPr>
              <a:t>PromptPal: </a:t>
            </a:r>
            <a:endParaRPr b="1" sz="3100">
              <a:solidFill>
                <a:schemeClr val="dk1"/>
              </a:solidFill>
              <a:latin typeface="Times"/>
              <a:ea typeface="Times"/>
              <a:cs typeface="Times"/>
              <a:sym typeface="Times"/>
            </a:endParaRPr>
          </a:p>
          <a:p>
            <a:pPr indent="0" lvl="0" marL="0" rtl="0" algn="ctr">
              <a:spcBef>
                <a:spcPts val="0"/>
              </a:spcBef>
              <a:spcAft>
                <a:spcPts val="0"/>
              </a:spcAft>
              <a:buNone/>
            </a:pPr>
            <a:r>
              <a:rPr b="1" lang="en-US" sz="3100">
                <a:solidFill>
                  <a:schemeClr val="dk1"/>
                </a:solidFill>
                <a:latin typeface="Times"/>
                <a:ea typeface="Times"/>
                <a:cs typeface="Times"/>
                <a:sym typeface="Times"/>
              </a:rPr>
              <a:t>AI Literacy &amp; Enablement for Federated Hermes</a:t>
            </a:r>
            <a:endParaRPr b="1" sz="3100">
              <a:solidFill>
                <a:schemeClr val="dk1"/>
              </a:solidFill>
              <a:latin typeface="Times"/>
              <a:ea typeface="Times"/>
              <a:cs typeface="Times"/>
              <a:sym typeface="Times"/>
            </a:endParaRPr>
          </a:p>
        </p:txBody>
      </p:sp>
      <p:sp>
        <p:nvSpPr>
          <p:cNvPr id="55" name="Google Shape;55;p9"/>
          <p:cNvSpPr txBox="1"/>
          <p:nvPr/>
        </p:nvSpPr>
        <p:spPr>
          <a:xfrm>
            <a:off x="1872000" y="3162900"/>
            <a:ext cx="5400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1500">
                <a:latin typeface="Times"/>
                <a:ea typeface="Times"/>
                <a:cs typeface="Times"/>
                <a:sym typeface="Times"/>
              </a:rPr>
              <a:t>CMU MISM Capstone Team</a:t>
            </a:r>
            <a:endParaRPr i="1" sz="1500">
              <a:latin typeface="Times"/>
              <a:ea typeface="Times"/>
              <a:cs typeface="Times"/>
              <a:sym typeface="Times"/>
            </a:endParaRPr>
          </a:p>
          <a:p>
            <a:pPr indent="0" lvl="0" marL="0" rtl="0" algn="ctr">
              <a:spcBef>
                <a:spcPts val="0"/>
              </a:spcBef>
              <a:spcAft>
                <a:spcPts val="0"/>
              </a:spcAft>
              <a:buNone/>
            </a:pPr>
            <a:r>
              <a:rPr i="1" lang="en-US" sz="1500">
                <a:latin typeface="Times"/>
                <a:ea typeface="Times"/>
                <a:cs typeface="Times"/>
                <a:sym typeface="Times"/>
              </a:rPr>
              <a:t>Fall 2025</a:t>
            </a:r>
            <a:endParaRPr i="1" sz="1500">
              <a:latin typeface="Times"/>
              <a:ea typeface="Times"/>
              <a:cs typeface="Times"/>
              <a:sym typeface="Times"/>
            </a:endParaRPr>
          </a:p>
        </p:txBody>
      </p:sp>
      <p:pic>
        <p:nvPicPr>
          <p:cNvPr id="56" name="Google Shape;56;p9" title="Screenshot 2025-10-19 at 8.14.42 PM.png"/>
          <p:cNvPicPr preferRelativeResize="0"/>
          <p:nvPr/>
        </p:nvPicPr>
        <p:blipFill>
          <a:blip r:embed="rId3">
            <a:alphaModFix/>
          </a:blip>
          <a:stretch>
            <a:fillRect/>
          </a:stretch>
        </p:blipFill>
        <p:spPr>
          <a:xfrm>
            <a:off x="152400" y="152400"/>
            <a:ext cx="1917125" cy="685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cxnSp>
        <p:nvCxnSpPr>
          <p:cNvPr id="62" name="Google Shape;62;p10"/>
          <p:cNvCxnSpPr/>
          <p:nvPr/>
        </p:nvCxnSpPr>
        <p:spPr>
          <a:xfrm>
            <a:off x="2312400" y="3447850"/>
            <a:ext cx="5486400" cy="0"/>
          </a:xfrm>
          <a:prstGeom prst="straightConnector1">
            <a:avLst/>
          </a:prstGeom>
          <a:noFill/>
          <a:ln cap="flat" cmpd="sng" w="9525">
            <a:solidFill>
              <a:srgbClr val="FFFFFF"/>
            </a:solidFill>
            <a:prstDash val="solid"/>
            <a:round/>
            <a:headEnd len="med" w="med" type="none"/>
            <a:tailEnd len="med" w="med" type="none"/>
          </a:ln>
        </p:spPr>
      </p:cxnSp>
      <p:sp>
        <p:nvSpPr>
          <p:cNvPr id="63" name="Google Shape;63;p10"/>
          <p:cNvSpPr txBox="1"/>
          <p:nvPr/>
        </p:nvSpPr>
        <p:spPr>
          <a:xfrm>
            <a:off x="248850" y="199225"/>
            <a:ext cx="2265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Group Member</a:t>
            </a:r>
            <a:endParaRPr b="1" sz="2300">
              <a:solidFill>
                <a:schemeClr val="dk1"/>
              </a:solidFill>
              <a:latin typeface="Times"/>
              <a:ea typeface="Times"/>
              <a:cs typeface="Times"/>
              <a:sym typeface="Times"/>
            </a:endParaRPr>
          </a:p>
        </p:txBody>
      </p:sp>
      <p:pic>
        <p:nvPicPr>
          <p:cNvPr id="64" name="Google Shape;64;p10"/>
          <p:cNvPicPr preferRelativeResize="0"/>
          <p:nvPr/>
        </p:nvPicPr>
        <p:blipFill>
          <a:blip r:embed="rId3">
            <a:alphaModFix/>
          </a:blip>
          <a:stretch>
            <a:fillRect/>
          </a:stretch>
        </p:blipFill>
        <p:spPr>
          <a:xfrm>
            <a:off x="211413" y="1487900"/>
            <a:ext cx="1591824" cy="2122425"/>
          </a:xfrm>
          <a:prstGeom prst="rect">
            <a:avLst/>
          </a:prstGeom>
          <a:noFill/>
          <a:ln>
            <a:noFill/>
          </a:ln>
        </p:spPr>
      </p:pic>
      <p:pic>
        <p:nvPicPr>
          <p:cNvPr id="65" name="Google Shape;65;p10"/>
          <p:cNvPicPr preferRelativeResize="0"/>
          <p:nvPr/>
        </p:nvPicPr>
        <p:blipFill rotWithShape="1">
          <a:blip r:embed="rId4">
            <a:alphaModFix/>
          </a:blip>
          <a:srcRect b="0" l="9535" r="2822" t="14785"/>
          <a:stretch/>
        </p:blipFill>
        <p:spPr>
          <a:xfrm>
            <a:off x="1990713" y="1487911"/>
            <a:ext cx="1446726" cy="2110433"/>
          </a:xfrm>
          <a:prstGeom prst="rect">
            <a:avLst/>
          </a:prstGeom>
          <a:noFill/>
          <a:ln>
            <a:noFill/>
          </a:ln>
        </p:spPr>
      </p:pic>
      <p:pic>
        <p:nvPicPr>
          <p:cNvPr id="66" name="Google Shape;66;p10"/>
          <p:cNvPicPr preferRelativeResize="0"/>
          <p:nvPr/>
        </p:nvPicPr>
        <p:blipFill>
          <a:blip r:embed="rId5">
            <a:alphaModFix/>
          </a:blip>
          <a:stretch>
            <a:fillRect/>
          </a:stretch>
        </p:blipFill>
        <p:spPr>
          <a:xfrm>
            <a:off x="3624950" y="1481900"/>
            <a:ext cx="1862640" cy="2122425"/>
          </a:xfrm>
          <a:prstGeom prst="rect">
            <a:avLst/>
          </a:prstGeom>
          <a:noFill/>
          <a:ln>
            <a:noFill/>
          </a:ln>
        </p:spPr>
      </p:pic>
      <p:pic>
        <p:nvPicPr>
          <p:cNvPr id="67" name="Google Shape;67;p10"/>
          <p:cNvPicPr preferRelativeResize="0"/>
          <p:nvPr/>
        </p:nvPicPr>
        <p:blipFill rotWithShape="1">
          <a:blip r:embed="rId6">
            <a:alphaModFix/>
          </a:blip>
          <a:srcRect b="0" l="12166" r="32052" t="40989"/>
          <a:stretch/>
        </p:blipFill>
        <p:spPr>
          <a:xfrm>
            <a:off x="5701450" y="1454438"/>
            <a:ext cx="1521559" cy="2146873"/>
          </a:xfrm>
          <a:prstGeom prst="rect">
            <a:avLst/>
          </a:prstGeom>
          <a:noFill/>
          <a:ln>
            <a:noFill/>
          </a:ln>
        </p:spPr>
      </p:pic>
      <p:sp>
        <p:nvSpPr>
          <p:cNvPr id="68" name="Google Shape;68;p10"/>
          <p:cNvSpPr txBox="1"/>
          <p:nvPr/>
        </p:nvSpPr>
        <p:spPr>
          <a:xfrm>
            <a:off x="4039650" y="3593875"/>
            <a:ext cx="1269900" cy="4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450">
                <a:solidFill>
                  <a:srgbClr val="1F1F1F"/>
                </a:solidFill>
                <a:highlight>
                  <a:srgbClr val="FFFFFF"/>
                </a:highlight>
                <a:latin typeface="Times"/>
                <a:ea typeface="Times"/>
                <a:cs typeface="Times"/>
                <a:sym typeface="Times"/>
              </a:rPr>
              <a:t>Sarah Lang</a:t>
            </a:r>
            <a:endParaRPr b="1" sz="2100">
              <a:solidFill>
                <a:schemeClr val="dk1"/>
              </a:solidFill>
              <a:latin typeface="Times"/>
              <a:ea typeface="Times"/>
              <a:cs typeface="Times"/>
              <a:sym typeface="Times"/>
            </a:endParaRPr>
          </a:p>
        </p:txBody>
      </p:sp>
      <p:sp>
        <p:nvSpPr>
          <p:cNvPr id="69" name="Google Shape;69;p10"/>
          <p:cNvSpPr txBox="1"/>
          <p:nvPr/>
        </p:nvSpPr>
        <p:spPr>
          <a:xfrm>
            <a:off x="2198538" y="3614225"/>
            <a:ext cx="103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1F1F1F"/>
                </a:solidFill>
                <a:highlight>
                  <a:srgbClr val="FFFFFF"/>
                </a:highlight>
                <a:latin typeface="Times"/>
                <a:ea typeface="Times"/>
                <a:cs typeface="Times"/>
                <a:sym typeface="Times"/>
              </a:rPr>
              <a:t>Sunny Lee</a:t>
            </a:r>
            <a:endParaRPr b="1">
              <a:solidFill>
                <a:schemeClr val="dk1"/>
              </a:solidFill>
              <a:latin typeface="Times"/>
              <a:ea typeface="Times"/>
              <a:cs typeface="Times"/>
              <a:sym typeface="Times"/>
            </a:endParaRPr>
          </a:p>
        </p:txBody>
      </p:sp>
      <p:sp>
        <p:nvSpPr>
          <p:cNvPr id="70" name="Google Shape;70;p10"/>
          <p:cNvSpPr txBox="1"/>
          <p:nvPr/>
        </p:nvSpPr>
        <p:spPr>
          <a:xfrm>
            <a:off x="5886663" y="3593875"/>
            <a:ext cx="1151100" cy="4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450">
                <a:solidFill>
                  <a:srgbClr val="1F1F1F"/>
                </a:solidFill>
                <a:highlight>
                  <a:srgbClr val="FFFFFF"/>
                </a:highlight>
                <a:latin typeface="Times"/>
                <a:ea typeface="Times"/>
                <a:cs typeface="Times"/>
                <a:sym typeface="Times"/>
              </a:rPr>
              <a:t>Jingxuan</a:t>
            </a:r>
            <a:r>
              <a:rPr b="1" lang="en-US" sz="1450">
                <a:solidFill>
                  <a:srgbClr val="1F1F1F"/>
                </a:solidFill>
                <a:highlight>
                  <a:srgbClr val="FFFFFF"/>
                </a:highlight>
                <a:latin typeface="Times"/>
                <a:ea typeface="Times"/>
                <a:cs typeface="Times"/>
                <a:sym typeface="Times"/>
              </a:rPr>
              <a:t> Li</a:t>
            </a:r>
            <a:endParaRPr b="1" sz="2100">
              <a:solidFill>
                <a:schemeClr val="dk1"/>
              </a:solidFill>
              <a:latin typeface="Times"/>
              <a:ea typeface="Times"/>
              <a:cs typeface="Times"/>
              <a:sym typeface="Times"/>
            </a:endParaRPr>
          </a:p>
        </p:txBody>
      </p:sp>
      <p:sp>
        <p:nvSpPr>
          <p:cNvPr id="71" name="Google Shape;71;p10"/>
          <p:cNvSpPr txBox="1"/>
          <p:nvPr/>
        </p:nvSpPr>
        <p:spPr>
          <a:xfrm>
            <a:off x="228450" y="3597775"/>
            <a:ext cx="144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1F1F1F"/>
                </a:solidFill>
                <a:highlight>
                  <a:srgbClr val="FFFFFF"/>
                </a:highlight>
                <a:latin typeface="Times"/>
                <a:ea typeface="Times"/>
                <a:cs typeface="Times"/>
                <a:sym typeface="Times"/>
              </a:rPr>
              <a:t>Rishabh Devgon</a:t>
            </a:r>
            <a:endParaRPr b="1">
              <a:solidFill>
                <a:schemeClr val="dk1"/>
              </a:solidFill>
              <a:latin typeface="Times"/>
              <a:ea typeface="Times"/>
              <a:cs typeface="Times"/>
              <a:sym typeface="Times"/>
            </a:endParaRPr>
          </a:p>
        </p:txBody>
      </p:sp>
      <p:sp>
        <p:nvSpPr>
          <p:cNvPr id="72" name="Google Shape;72;p10"/>
          <p:cNvSpPr txBox="1"/>
          <p:nvPr/>
        </p:nvSpPr>
        <p:spPr>
          <a:xfrm>
            <a:off x="5572500" y="4406325"/>
            <a:ext cx="212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a:solidFill>
                  <a:srgbClr val="1F1F1F"/>
                </a:solidFill>
                <a:highlight>
                  <a:srgbClr val="FFFFFF"/>
                </a:highlight>
                <a:latin typeface="Times"/>
                <a:ea typeface="Times"/>
                <a:cs typeface="Times"/>
                <a:sym typeface="Times"/>
              </a:rPr>
              <a:t>Advisor: Allison Sagraves</a:t>
            </a:r>
            <a:endParaRPr b="1" i="1">
              <a:solidFill>
                <a:schemeClr val="dk1"/>
              </a:solidFill>
              <a:latin typeface="Times"/>
              <a:ea typeface="Times"/>
              <a:cs typeface="Times"/>
              <a:sym typeface="Times"/>
            </a:endParaRPr>
          </a:p>
        </p:txBody>
      </p:sp>
      <p:pic>
        <p:nvPicPr>
          <p:cNvPr id="73" name="Google Shape;73;p10"/>
          <p:cNvPicPr preferRelativeResize="0"/>
          <p:nvPr/>
        </p:nvPicPr>
        <p:blipFill rotWithShape="1">
          <a:blip r:embed="rId7">
            <a:alphaModFix/>
          </a:blip>
          <a:srcRect b="0" l="36836" r="33006" t="42459"/>
          <a:stretch/>
        </p:blipFill>
        <p:spPr>
          <a:xfrm>
            <a:off x="7436850" y="1457426"/>
            <a:ext cx="1495725" cy="2140911"/>
          </a:xfrm>
          <a:prstGeom prst="rect">
            <a:avLst/>
          </a:prstGeom>
          <a:noFill/>
          <a:ln>
            <a:noFill/>
          </a:ln>
        </p:spPr>
      </p:pic>
      <p:sp>
        <p:nvSpPr>
          <p:cNvPr id="74" name="Google Shape;74;p10"/>
          <p:cNvSpPr txBox="1"/>
          <p:nvPr/>
        </p:nvSpPr>
        <p:spPr>
          <a:xfrm>
            <a:off x="7674150" y="3610325"/>
            <a:ext cx="1151100" cy="4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450">
                <a:solidFill>
                  <a:srgbClr val="1F1F1F"/>
                </a:solidFill>
                <a:highlight>
                  <a:srgbClr val="FFFFFF"/>
                </a:highlight>
                <a:latin typeface="Times"/>
                <a:ea typeface="Times"/>
                <a:cs typeface="Times"/>
                <a:sym typeface="Times"/>
              </a:rPr>
              <a:t>Gilbert Wu</a:t>
            </a:r>
            <a:endParaRPr b="1" sz="2100">
              <a:solidFill>
                <a:schemeClr val="dk1"/>
              </a:solidFill>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cxnSp>
        <p:nvCxnSpPr>
          <p:cNvPr id="80" name="Google Shape;80;p11"/>
          <p:cNvCxnSpPr/>
          <p:nvPr/>
        </p:nvCxnSpPr>
        <p:spPr>
          <a:xfrm>
            <a:off x="1905000" y="3407125"/>
            <a:ext cx="5486400" cy="0"/>
          </a:xfrm>
          <a:prstGeom prst="straightConnector1">
            <a:avLst/>
          </a:prstGeom>
          <a:noFill/>
          <a:ln cap="flat" cmpd="sng" w="9525">
            <a:solidFill>
              <a:srgbClr val="FFFFFF"/>
            </a:solidFill>
            <a:prstDash val="solid"/>
            <a:round/>
            <a:headEnd len="med" w="med" type="none"/>
            <a:tailEnd len="med" w="med" type="none"/>
          </a:ln>
        </p:spPr>
      </p:cxnSp>
      <p:sp>
        <p:nvSpPr>
          <p:cNvPr id="81" name="Google Shape;81;p11"/>
          <p:cNvSpPr txBox="1"/>
          <p:nvPr/>
        </p:nvSpPr>
        <p:spPr>
          <a:xfrm>
            <a:off x="248850" y="199225"/>
            <a:ext cx="2594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Project Overview</a:t>
            </a:r>
            <a:endParaRPr b="1" sz="2300">
              <a:solidFill>
                <a:schemeClr val="dk1"/>
              </a:solidFill>
              <a:latin typeface="Times"/>
              <a:ea typeface="Times"/>
              <a:cs typeface="Times"/>
              <a:sym typeface="Times"/>
            </a:endParaRPr>
          </a:p>
        </p:txBody>
      </p:sp>
      <p:sp>
        <p:nvSpPr>
          <p:cNvPr id="82" name="Google Shape;82;p11"/>
          <p:cNvSpPr txBox="1"/>
          <p:nvPr/>
        </p:nvSpPr>
        <p:spPr>
          <a:xfrm>
            <a:off x="315300" y="843150"/>
            <a:ext cx="82932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US">
                <a:solidFill>
                  <a:schemeClr val="dk1"/>
                </a:solidFill>
                <a:latin typeface="Times"/>
                <a:ea typeface="Times"/>
                <a:cs typeface="Times"/>
                <a:sym typeface="Times"/>
              </a:rPr>
              <a:t>Goal: </a:t>
            </a:r>
            <a:r>
              <a:rPr lang="en-US">
                <a:solidFill>
                  <a:schemeClr val="dk1"/>
                </a:solidFill>
                <a:latin typeface="Times"/>
                <a:ea typeface="Times"/>
                <a:cs typeface="Times"/>
                <a:sym typeface="Times"/>
              </a:rPr>
              <a:t>Develop </a:t>
            </a:r>
            <a:r>
              <a:rPr b="1" lang="en-US">
                <a:solidFill>
                  <a:schemeClr val="dk1"/>
                </a:solidFill>
                <a:latin typeface="Times"/>
                <a:ea typeface="Times"/>
                <a:cs typeface="Times"/>
                <a:sym typeface="Times"/>
              </a:rPr>
              <a:t>PromptPal</a:t>
            </a:r>
            <a:r>
              <a:rPr lang="en-US">
                <a:solidFill>
                  <a:schemeClr val="dk1"/>
                </a:solidFill>
                <a:latin typeface="Times"/>
                <a:ea typeface="Times"/>
                <a:cs typeface="Times"/>
                <a:sym typeface="Times"/>
              </a:rPr>
              <a:t>, an AI-powered adaptive learning platform for Federated Hermes that helps employees build practical AI skills through </a:t>
            </a:r>
            <a:r>
              <a:rPr b="1" lang="en-US">
                <a:solidFill>
                  <a:schemeClr val="dk1"/>
                </a:solidFill>
                <a:latin typeface="Times"/>
                <a:ea typeface="Times"/>
                <a:cs typeface="Times"/>
                <a:sym typeface="Times"/>
              </a:rPr>
              <a:t>personalized, role-specific, and measurable learning experiences</a:t>
            </a:r>
            <a:r>
              <a:rPr lang="en-US">
                <a:solidFill>
                  <a:schemeClr val="dk1"/>
                </a:solidFill>
                <a:latin typeface="Times"/>
                <a:ea typeface="Times"/>
                <a:cs typeface="Times"/>
                <a:sym typeface="Times"/>
              </a:rPr>
              <a:t>. </a:t>
            </a:r>
            <a:endParaRPr b="1" sz="1700">
              <a:solidFill>
                <a:schemeClr val="dk1"/>
              </a:solidFill>
              <a:latin typeface="Times"/>
              <a:ea typeface="Times"/>
              <a:cs typeface="Times"/>
              <a:sym typeface="Times"/>
            </a:endParaRPr>
          </a:p>
        </p:txBody>
      </p:sp>
      <p:sp>
        <p:nvSpPr>
          <p:cNvPr id="83" name="Google Shape;83;p11"/>
          <p:cNvSpPr/>
          <p:nvPr/>
        </p:nvSpPr>
        <p:spPr>
          <a:xfrm>
            <a:off x="723150" y="1682325"/>
            <a:ext cx="3438900" cy="11184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a:solidFill>
                  <a:schemeClr val="dk1"/>
                </a:solidFill>
                <a:latin typeface="Times"/>
                <a:ea typeface="Times"/>
                <a:cs typeface="Times"/>
                <a:sym typeface="Times"/>
              </a:rPr>
              <a:t>Personalized Learning</a:t>
            </a:r>
            <a:endParaRPr b="1">
              <a:solidFill>
                <a:schemeClr val="dk1"/>
              </a:solidFill>
              <a:latin typeface="Times"/>
              <a:ea typeface="Times"/>
              <a:cs typeface="Times"/>
              <a:sym typeface="Times"/>
            </a:endParaRPr>
          </a:p>
          <a:p>
            <a:pPr indent="0" lvl="0" marL="0" rtl="0" algn="l">
              <a:lnSpc>
                <a:spcPct val="100000"/>
              </a:lnSpc>
              <a:spcBef>
                <a:spcPts val="0"/>
              </a:spcBef>
              <a:spcAft>
                <a:spcPts val="0"/>
              </a:spcAft>
              <a:buNone/>
            </a:pPr>
            <a:r>
              <a:rPr lang="en-US" sz="1300">
                <a:solidFill>
                  <a:schemeClr val="dk1"/>
                </a:solidFill>
                <a:latin typeface="Times"/>
                <a:ea typeface="Times"/>
                <a:cs typeface="Times"/>
                <a:sym typeface="Times"/>
              </a:rPr>
              <a:t>Tailors AI concepts, use cases, and examples to each employee’s role and learning history; use Weaviate and user memory for step-by-step explanations through the CLEAR framework.</a:t>
            </a:r>
            <a:endParaRPr b="1">
              <a:solidFill>
                <a:schemeClr val="dk1"/>
              </a:solidFill>
              <a:latin typeface="Times"/>
              <a:ea typeface="Times"/>
              <a:cs typeface="Times"/>
              <a:sym typeface="Times"/>
            </a:endParaRPr>
          </a:p>
        </p:txBody>
      </p:sp>
      <p:sp>
        <p:nvSpPr>
          <p:cNvPr id="84" name="Google Shape;84;p11"/>
          <p:cNvSpPr/>
          <p:nvPr/>
        </p:nvSpPr>
        <p:spPr>
          <a:xfrm>
            <a:off x="4502100" y="1682325"/>
            <a:ext cx="3438900" cy="1118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a:solidFill>
                  <a:schemeClr val="dk1"/>
                </a:solidFill>
                <a:latin typeface="Times"/>
                <a:ea typeface="Times"/>
                <a:cs typeface="Times"/>
                <a:sym typeface="Times"/>
              </a:rPr>
              <a:t>Customized Prompt Guidance</a:t>
            </a:r>
            <a:endParaRPr b="1">
              <a:solidFill>
                <a:schemeClr val="dk1"/>
              </a:solidFill>
              <a:latin typeface="Times"/>
              <a:ea typeface="Times"/>
              <a:cs typeface="Times"/>
              <a:sym typeface="Times"/>
            </a:endParaRPr>
          </a:p>
          <a:p>
            <a:pPr indent="0" lvl="0" marL="0" rtl="0" algn="l">
              <a:lnSpc>
                <a:spcPct val="100000"/>
              </a:lnSpc>
              <a:spcBef>
                <a:spcPts val="0"/>
              </a:spcBef>
              <a:spcAft>
                <a:spcPts val="0"/>
              </a:spcAft>
              <a:buNone/>
            </a:pPr>
            <a:r>
              <a:rPr lang="en-US" sz="1300">
                <a:solidFill>
                  <a:schemeClr val="dk1"/>
                </a:solidFill>
                <a:latin typeface="Times"/>
                <a:ea typeface="Times"/>
                <a:cs typeface="Times"/>
                <a:sym typeface="Times"/>
              </a:rPr>
              <a:t>The Navigator Agent generates role-specific, ready-to-use prompts so users don’t need prior prompting skills—just click and use.</a:t>
            </a:r>
            <a:endParaRPr b="1">
              <a:solidFill>
                <a:schemeClr val="dk1"/>
              </a:solidFill>
              <a:latin typeface="Times"/>
              <a:ea typeface="Times"/>
              <a:cs typeface="Times"/>
              <a:sym typeface="Times"/>
            </a:endParaRPr>
          </a:p>
        </p:txBody>
      </p:sp>
      <p:sp>
        <p:nvSpPr>
          <p:cNvPr id="85" name="Google Shape;85;p11"/>
          <p:cNvSpPr/>
          <p:nvPr/>
        </p:nvSpPr>
        <p:spPr>
          <a:xfrm>
            <a:off x="723150" y="3043650"/>
            <a:ext cx="3438900" cy="11184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a:solidFill>
                  <a:schemeClr val="dk1"/>
                </a:solidFill>
                <a:latin typeface="Times"/>
                <a:ea typeface="Times"/>
                <a:cs typeface="Times"/>
                <a:sym typeface="Times"/>
              </a:rPr>
              <a:t>Build Your Own Knowledge Base</a:t>
            </a:r>
            <a:endParaRPr b="1">
              <a:solidFill>
                <a:schemeClr val="dk1"/>
              </a:solidFill>
              <a:latin typeface="Times"/>
              <a:ea typeface="Times"/>
              <a:cs typeface="Times"/>
              <a:sym typeface="Times"/>
            </a:endParaRPr>
          </a:p>
          <a:p>
            <a:pPr indent="0" lvl="0" marL="0" rtl="0" algn="l">
              <a:lnSpc>
                <a:spcPct val="100000"/>
              </a:lnSpc>
              <a:spcBef>
                <a:spcPts val="0"/>
              </a:spcBef>
              <a:spcAft>
                <a:spcPts val="0"/>
              </a:spcAft>
              <a:buNone/>
            </a:pPr>
            <a:r>
              <a:rPr lang="en-US" sz="1300">
                <a:solidFill>
                  <a:schemeClr val="dk1"/>
                </a:solidFill>
                <a:latin typeface="Times"/>
                <a:ea typeface="Times"/>
                <a:cs typeface="Times"/>
                <a:sym typeface="Times"/>
              </a:rPr>
              <a:t>Employees can upload documents to create a personal, searchable knowledge base that the chatbot and learning agents can retrieve from.</a:t>
            </a:r>
            <a:endParaRPr b="1">
              <a:solidFill>
                <a:schemeClr val="dk1"/>
              </a:solidFill>
              <a:latin typeface="Times"/>
              <a:ea typeface="Times"/>
              <a:cs typeface="Times"/>
              <a:sym typeface="Times"/>
            </a:endParaRPr>
          </a:p>
        </p:txBody>
      </p:sp>
      <p:sp>
        <p:nvSpPr>
          <p:cNvPr id="86" name="Google Shape;86;p11"/>
          <p:cNvSpPr/>
          <p:nvPr/>
        </p:nvSpPr>
        <p:spPr>
          <a:xfrm>
            <a:off x="4502100" y="3043638"/>
            <a:ext cx="3438900" cy="11184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a:solidFill>
                  <a:schemeClr val="dk1"/>
                </a:solidFill>
                <a:latin typeface="Times"/>
                <a:ea typeface="Times"/>
                <a:cs typeface="Times"/>
                <a:sym typeface="Times"/>
              </a:rPr>
              <a:t>Integrated Quiz &amp; Assessment</a:t>
            </a:r>
            <a:endParaRPr b="1">
              <a:solidFill>
                <a:schemeClr val="dk1"/>
              </a:solidFill>
              <a:latin typeface="Times"/>
              <a:ea typeface="Times"/>
              <a:cs typeface="Times"/>
              <a:sym typeface="Times"/>
            </a:endParaRPr>
          </a:p>
          <a:p>
            <a:pPr indent="0" lvl="0" marL="0" rtl="0" algn="l">
              <a:lnSpc>
                <a:spcPct val="100000"/>
              </a:lnSpc>
              <a:spcBef>
                <a:spcPts val="0"/>
              </a:spcBef>
              <a:spcAft>
                <a:spcPts val="0"/>
              </a:spcAft>
              <a:buNone/>
            </a:pPr>
            <a:r>
              <a:rPr lang="en-US" sz="1300">
                <a:solidFill>
                  <a:schemeClr val="dk1"/>
                </a:solidFill>
                <a:latin typeface="Times"/>
                <a:ea typeface="Times"/>
                <a:cs typeface="Times"/>
                <a:sym typeface="Times"/>
              </a:rPr>
              <a:t>Each module includes auto-generated quizzes and exercises to validate understanding and measure proficiency over time.</a:t>
            </a:r>
            <a:endParaRPr b="1">
              <a:solidFill>
                <a:schemeClr val="dk1"/>
              </a:solidFill>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2"/>
          <p:cNvSpPr txBox="1"/>
          <p:nvPr/>
        </p:nvSpPr>
        <p:spPr>
          <a:xfrm>
            <a:off x="248850" y="199225"/>
            <a:ext cx="3665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Why This Matters Now</a:t>
            </a:r>
            <a:endParaRPr b="1" sz="2300">
              <a:solidFill>
                <a:schemeClr val="dk1"/>
              </a:solidFill>
              <a:latin typeface="Times"/>
              <a:ea typeface="Times"/>
              <a:cs typeface="Times"/>
              <a:sym typeface="Times"/>
            </a:endParaRPr>
          </a:p>
        </p:txBody>
      </p:sp>
      <p:sp>
        <p:nvSpPr>
          <p:cNvPr id="93" name="Google Shape;93;p12"/>
          <p:cNvSpPr txBox="1"/>
          <p:nvPr/>
        </p:nvSpPr>
        <p:spPr>
          <a:xfrm>
            <a:off x="336025" y="809450"/>
            <a:ext cx="8671200" cy="375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i="1" lang="en-US" sz="1600">
                <a:solidFill>
                  <a:schemeClr val="dk1"/>
                </a:solidFill>
                <a:latin typeface="Times"/>
                <a:ea typeface="Times"/>
                <a:cs typeface="Times"/>
                <a:sym typeface="Times"/>
              </a:rPr>
              <a:t>Industry studies show that AI can lead to a 40% increase in productivity, 25% higher work quality, and a 60% reduction in time spent on writing tasks. Yet AI usage at Federated Hermes is growing — but uneven.</a:t>
            </a:r>
            <a:endParaRPr b="1" i="1" sz="1600">
              <a:solidFill>
                <a:schemeClr val="dk1"/>
              </a:solidFill>
              <a:latin typeface="Times"/>
              <a:ea typeface="Times"/>
              <a:cs typeface="Times"/>
              <a:sym typeface="Time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Times"/>
                <a:ea typeface="Times"/>
                <a:cs typeface="Times"/>
                <a:sym typeface="Times"/>
              </a:rPr>
              <a:t>Today, employees use:</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Databricks • Power BI • Azure Datalake • OpenAI • Athena (JavaScript AI Portal)</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Times"/>
                <a:ea typeface="Times"/>
                <a:cs typeface="Times"/>
                <a:sym typeface="Times"/>
              </a:rPr>
              <a:t>Key challenges:</a:t>
            </a:r>
            <a:br>
              <a:rPr b="1"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a:t>
            </a:r>
            <a:r>
              <a:rPr lang="en-US" sz="1600">
                <a:solidFill>
                  <a:schemeClr val="dk1"/>
                </a:solidFill>
                <a:latin typeface="Times"/>
                <a:ea typeface="Times"/>
                <a:cs typeface="Times"/>
                <a:sym typeface="Times"/>
              </a:rPr>
              <a:t>•</a:t>
            </a:r>
            <a:r>
              <a:rPr lang="en-US" sz="1600">
                <a:solidFill>
                  <a:schemeClr val="dk1"/>
                </a:solidFill>
                <a:latin typeface="Times"/>
                <a:ea typeface="Times"/>
                <a:cs typeface="Times"/>
                <a:sym typeface="Times"/>
              </a:rPr>
              <a:t> Low day-to-day AI usage</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High time spent on repetitive work (emails, forms, extraction)</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Insufficient prompting skills</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Limited understanding of how AI fits into business workflows</a:t>
            </a:r>
            <a:endParaRPr sz="1600">
              <a:solidFill>
                <a:schemeClr val="dk1"/>
              </a:solidFill>
              <a:latin typeface="Times"/>
              <a:ea typeface="Times"/>
              <a:cs typeface="Times"/>
              <a:sym typeface="Times"/>
            </a:endParaRPr>
          </a:p>
          <a:p>
            <a:pPr indent="0" lvl="0" marL="0" rtl="0" algn="l">
              <a:lnSpc>
                <a:spcPct val="115000"/>
              </a:lnSpc>
              <a:spcBef>
                <a:spcPts val="1200"/>
              </a:spcBef>
              <a:spcAft>
                <a:spcPts val="1200"/>
              </a:spcAft>
              <a:buNone/>
            </a:pPr>
            <a:r>
              <a:rPr b="1" lang="en-US" sz="1600">
                <a:solidFill>
                  <a:schemeClr val="dk1"/>
                </a:solidFill>
                <a:latin typeface="Times"/>
                <a:ea typeface="Times"/>
                <a:cs typeface="Times"/>
                <a:sym typeface="Times"/>
              </a:rPr>
              <a:t>PromptPal solves these through structured, role-specific learning.</a:t>
            </a:r>
            <a:endParaRPr sz="1600">
              <a:solidFill>
                <a:schemeClr val="dk1"/>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nvSpPr>
        <p:spPr>
          <a:xfrm>
            <a:off x="248850" y="199225"/>
            <a:ext cx="3665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Problem We Are Solving</a:t>
            </a:r>
            <a:endParaRPr b="1" sz="2300">
              <a:solidFill>
                <a:schemeClr val="dk1"/>
              </a:solidFill>
              <a:latin typeface="Times"/>
              <a:ea typeface="Times"/>
              <a:cs typeface="Times"/>
              <a:sym typeface="Times"/>
            </a:endParaRPr>
          </a:p>
        </p:txBody>
      </p:sp>
      <p:sp>
        <p:nvSpPr>
          <p:cNvPr id="100" name="Google Shape;100;p13"/>
          <p:cNvSpPr txBox="1"/>
          <p:nvPr/>
        </p:nvSpPr>
        <p:spPr>
          <a:xfrm>
            <a:off x="356225" y="1324075"/>
            <a:ext cx="3611700" cy="1595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US" sz="1600">
                <a:solidFill>
                  <a:schemeClr val="dk1"/>
                </a:solidFill>
                <a:latin typeface="Times"/>
                <a:ea typeface="Times"/>
                <a:cs typeface="Times"/>
                <a:sym typeface="Times"/>
              </a:rPr>
              <a:t>Employees struggle with:</a:t>
            </a:r>
            <a:endParaRPr sz="1600">
              <a:solidFill>
                <a:schemeClr val="dk1"/>
              </a:solidFill>
              <a:latin typeface="Times"/>
              <a:ea typeface="Times"/>
              <a:cs typeface="Times"/>
              <a:sym typeface="Times"/>
            </a:endParaRPr>
          </a:p>
          <a:p>
            <a:pPr indent="-330200" lvl="0" marL="457200" rtl="0" algn="l">
              <a:lnSpc>
                <a:spcPct val="115000"/>
              </a:lnSpc>
              <a:spcBef>
                <a:spcPts val="1200"/>
              </a:spcBef>
              <a:spcAft>
                <a:spcPts val="0"/>
              </a:spcAft>
              <a:buClr>
                <a:schemeClr val="dk1"/>
              </a:buClr>
              <a:buSzPts val="1600"/>
              <a:buFont typeface="Times"/>
              <a:buChar char="●"/>
            </a:pPr>
            <a:r>
              <a:rPr lang="en-US" sz="1600">
                <a:solidFill>
                  <a:schemeClr val="dk1"/>
                </a:solidFill>
                <a:latin typeface="Times"/>
                <a:ea typeface="Times"/>
                <a:cs typeface="Times"/>
                <a:sym typeface="Times"/>
              </a:rPr>
              <a:t>Using AI tools confidently</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Knowing how to prompt effectively</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Applying AI to use cases</a:t>
            </a:r>
            <a:endParaRPr b="1" sz="2100">
              <a:solidFill>
                <a:schemeClr val="dk1"/>
              </a:solidFill>
              <a:latin typeface="Times"/>
              <a:ea typeface="Times"/>
              <a:cs typeface="Times"/>
              <a:sym typeface="Times"/>
            </a:endParaRPr>
          </a:p>
        </p:txBody>
      </p:sp>
      <p:sp>
        <p:nvSpPr>
          <p:cNvPr id="101" name="Google Shape;101;p13"/>
          <p:cNvSpPr txBox="1"/>
          <p:nvPr/>
        </p:nvSpPr>
        <p:spPr>
          <a:xfrm>
            <a:off x="4449750" y="1324075"/>
            <a:ext cx="4338000" cy="1434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US" sz="1600">
                <a:solidFill>
                  <a:schemeClr val="dk1"/>
                </a:solidFill>
                <a:latin typeface="Times"/>
                <a:ea typeface="Times"/>
                <a:cs typeface="Times"/>
                <a:sym typeface="Times"/>
              </a:rPr>
              <a:t>Managers struggle with:</a:t>
            </a:r>
            <a:endParaRPr sz="1600">
              <a:solidFill>
                <a:schemeClr val="dk1"/>
              </a:solidFill>
              <a:latin typeface="Times"/>
              <a:ea typeface="Times"/>
              <a:cs typeface="Times"/>
              <a:sym typeface="Times"/>
            </a:endParaRPr>
          </a:p>
          <a:p>
            <a:pPr indent="-330200" lvl="0" marL="457200" rtl="0" algn="l">
              <a:lnSpc>
                <a:spcPct val="115000"/>
              </a:lnSpc>
              <a:spcBef>
                <a:spcPts val="1200"/>
              </a:spcBef>
              <a:spcAft>
                <a:spcPts val="0"/>
              </a:spcAft>
              <a:buClr>
                <a:schemeClr val="dk1"/>
              </a:buClr>
              <a:buSzPts val="1600"/>
              <a:buFont typeface="Times"/>
              <a:buChar char="●"/>
            </a:pPr>
            <a:r>
              <a:rPr lang="en-US" sz="1600">
                <a:solidFill>
                  <a:schemeClr val="dk1"/>
                </a:solidFill>
                <a:latin typeface="Times"/>
                <a:ea typeface="Times"/>
                <a:cs typeface="Times"/>
                <a:sym typeface="Times"/>
              </a:rPr>
              <a:t>V</a:t>
            </a:r>
            <a:r>
              <a:rPr lang="en-US" sz="1600">
                <a:solidFill>
                  <a:schemeClr val="dk1"/>
                </a:solidFill>
                <a:latin typeface="Times"/>
                <a:ea typeface="Times"/>
                <a:cs typeface="Times"/>
                <a:sym typeface="Times"/>
              </a:rPr>
              <a:t>isibility into AI proficiency across teams</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Standardizing AI training</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Difficulty communicating in AI terms</a:t>
            </a:r>
            <a:endParaRPr sz="1600">
              <a:solidFill>
                <a:schemeClr val="dk1"/>
              </a:solidFill>
              <a:latin typeface="Times"/>
              <a:ea typeface="Times"/>
              <a:cs typeface="Times"/>
              <a:sym typeface="Times"/>
            </a:endParaRPr>
          </a:p>
        </p:txBody>
      </p:sp>
      <p:sp>
        <p:nvSpPr>
          <p:cNvPr id="102" name="Google Shape;102;p13"/>
          <p:cNvSpPr txBox="1"/>
          <p:nvPr/>
        </p:nvSpPr>
        <p:spPr>
          <a:xfrm>
            <a:off x="1139850" y="3385500"/>
            <a:ext cx="686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a:ea typeface="Times"/>
                <a:cs typeface="Times"/>
                <a:sym typeface="Times"/>
              </a:rPr>
              <a:t>PromptPal is designed to address both sides - helping employees build confidence and capability, while giving managers clarity and consistency in how AI is used across the firm.</a:t>
            </a:r>
            <a:endParaRPr>
              <a:latin typeface="Times"/>
              <a:ea typeface="Times"/>
              <a:cs typeface="Times"/>
              <a:sym typeface="Time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 name="Shape 107"/>
        <p:cNvGrpSpPr/>
        <p:nvPr/>
      </p:nvGrpSpPr>
      <p:grpSpPr>
        <a:xfrm>
          <a:off x="0" y="0"/>
          <a:ext cx="0" cy="0"/>
          <a:chOff x="0" y="0"/>
          <a:chExt cx="0" cy="0"/>
        </a:xfrm>
      </p:grpSpPr>
      <p:sp>
        <p:nvSpPr>
          <p:cNvPr id="108" name="Google Shape;108;p14"/>
          <p:cNvSpPr txBox="1"/>
          <p:nvPr/>
        </p:nvSpPr>
        <p:spPr>
          <a:xfrm>
            <a:off x="248850" y="199225"/>
            <a:ext cx="3665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Introducing PromptPal</a:t>
            </a:r>
            <a:endParaRPr b="1" sz="2300">
              <a:solidFill>
                <a:schemeClr val="dk1"/>
              </a:solidFill>
              <a:latin typeface="Times"/>
              <a:ea typeface="Times"/>
              <a:cs typeface="Times"/>
              <a:sym typeface="Times"/>
            </a:endParaRPr>
          </a:p>
        </p:txBody>
      </p:sp>
      <p:sp>
        <p:nvSpPr>
          <p:cNvPr id="109" name="Google Shape;109;p14"/>
          <p:cNvSpPr txBox="1"/>
          <p:nvPr/>
        </p:nvSpPr>
        <p:spPr>
          <a:xfrm>
            <a:off x="346375" y="995800"/>
            <a:ext cx="8009700" cy="341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600">
                <a:solidFill>
                  <a:schemeClr val="dk1"/>
                </a:solidFill>
                <a:latin typeface="Times"/>
                <a:ea typeface="Times"/>
                <a:cs typeface="Times"/>
                <a:sym typeface="Times"/>
              </a:rPr>
              <a:t>An internal AI Tutor built for Federated Hermes.</a:t>
            </a:r>
            <a:endParaRPr b="1" sz="1600">
              <a:solidFill>
                <a:schemeClr val="dk1"/>
              </a:solidFill>
              <a:latin typeface="Times"/>
              <a:ea typeface="Times"/>
              <a:cs typeface="Times"/>
              <a:sym typeface="Times"/>
            </a:endParaRPr>
          </a:p>
          <a:p>
            <a:pPr indent="0" lvl="0" marL="0" rtl="0" algn="l">
              <a:lnSpc>
                <a:spcPct val="115000"/>
              </a:lnSpc>
              <a:spcBef>
                <a:spcPts val="1200"/>
              </a:spcBef>
              <a:spcAft>
                <a:spcPts val="1200"/>
              </a:spcAft>
              <a:buNone/>
            </a:pPr>
            <a:r>
              <a:rPr lang="en-US" sz="1600">
                <a:solidFill>
                  <a:schemeClr val="dk1"/>
                </a:solidFill>
                <a:latin typeface="Times"/>
                <a:ea typeface="Times"/>
                <a:cs typeface="Times"/>
                <a:sym typeface="Times"/>
              </a:rPr>
              <a:t>Capabilities:</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Conversational, adaptive AI tutor</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Personalized learning paths (Marketing, Sales, Investments, Ops, IT)</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Quizzes + diagnostic assessments</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Micro-lessons teaching prompt engineering essentials</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Manager dashboard to track AI literacy</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Modular agent architecture</a:t>
            </a:r>
            <a:endParaRPr b="1" sz="1600">
              <a:solidFill>
                <a:schemeClr val="dk1"/>
              </a:solidFill>
              <a:latin typeface="Times"/>
              <a:ea typeface="Times"/>
              <a:cs typeface="Times"/>
              <a:sym typeface="Time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cxnSp>
        <p:nvCxnSpPr>
          <p:cNvPr id="115" name="Google Shape;115;p15"/>
          <p:cNvCxnSpPr/>
          <p:nvPr/>
        </p:nvCxnSpPr>
        <p:spPr>
          <a:xfrm>
            <a:off x="1905000" y="3458875"/>
            <a:ext cx="5486400" cy="0"/>
          </a:xfrm>
          <a:prstGeom prst="straightConnector1">
            <a:avLst/>
          </a:prstGeom>
          <a:noFill/>
          <a:ln cap="flat" cmpd="sng" w="9525">
            <a:solidFill>
              <a:srgbClr val="FFFFFF"/>
            </a:solidFill>
            <a:prstDash val="solid"/>
            <a:round/>
            <a:headEnd len="med" w="med" type="none"/>
            <a:tailEnd len="med" w="med" type="none"/>
          </a:ln>
        </p:spPr>
      </p:cxnSp>
      <p:sp>
        <p:nvSpPr>
          <p:cNvPr id="116" name="Google Shape;116;p15"/>
          <p:cNvSpPr txBox="1"/>
          <p:nvPr/>
        </p:nvSpPr>
        <p:spPr>
          <a:xfrm>
            <a:off x="1828800" y="3611275"/>
            <a:ext cx="5257800" cy="685800"/>
          </a:xfrm>
          <a:prstGeom prst="rect">
            <a:avLst/>
          </a:prstGeom>
          <a:noFill/>
          <a:ln>
            <a:noFill/>
          </a:ln>
        </p:spPr>
        <p:txBody>
          <a:bodyPr anchorCtr="0" anchor="t" bIns="45700" lIns="91425" spcFirstLastPara="1" rIns="91425" wrap="square" tIns="45700">
            <a:noAutofit/>
          </a:bodyPr>
          <a:lstStyle/>
          <a:p>
            <a:pPr indent="-3175" lvl="0" marL="3175" marR="0" rtl="0" algn="l">
              <a:spcBef>
                <a:spcPts val="0"/>
              </a:spcBef>
              <a:spcAft>
                <a:spcPts val="0"/>
              </a:spcAft>
              <a:buNone/>
            </a:pPr>
            <a:r>
              <a:rPr b="0" i="0" lang="en-US" sz="1600" u="none" cap="none" strike="noStrike">
                <a:solidFill>
                  <a:srgbClr val="FFFFFF"/>
                </a:solidFill>
                <a:latin typeface="Open Sans"/>
                <a:ea typeface="Open Sans"/>
                <a:cs typeface="Open Sans"/>
                <a:sym typeface="Open Sans"/>
              </a:rPr>
              <a:t>Click to edit Presenter Name</a:t>
            </a:r>
            <a:endParaRPr/>
          </a:p>
          <a:p>
            <a:pPr indent="-3175" lvl="0" marL="3175" marR="0" rtl="0" algn="l">
              <a:spcBef>
                <a:spcPts val="320"/>
              </a:spcBef>
              <a:spcAft>
                <a:spcPts val="0"/>
              </a:spcAft>
              <a:buNone/>
            </a:pPr>
            <a:r>
              <a:rPr b="0" i="1" lang="en-US" sz="1600" u="none" cap="none" strike="noStrike">
                <a:solidFill>
                  <a:srgbClr val="FFFFFF"/>
                </a:solidFill>
                <a:latin typeface="Open Sans"/>
                <a:ea typeface="Open Sans"/>
                <a:cs typeface="Open Sans"/>
                <a:sym typeface="Open Sans"/>
              </a:rPr>
              <a:t>Presenter Title</a:t>
            </a:r>
            <a:endParaRPr/>
          </a:p>
        </p:txBody>
      </p:sp>
      <p:sp>
        <p:nvSpPr>
          <p:cNvPr id="117" name="Google Shape;117;p15"/>
          <p:cNvSpPr txBox="1"/>
          <p:nvPr/>
        </p:nvSpPr>
        <p:spPr>
          <a:xfrm>
            <a:off x="248850" y="199225"/>
            <a:ext cx="59844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How PromptPal Differs From Copilot</a:t>
            </a:r>
            <a:endParaRPr b="1" sz="2300">
              <a:solidFill>
                <a:schemeClr val="dk1"/>
              </a:solidFill>
              <a:latin typeface="Times"/>
              <a:ea typeface="Times"/>
              <a:cs typeface="Times"/>
              <a:sym typeface="Times"/>
            </a:endParaRPr>
          </a:p>
          <a:p>
            <a:pPr indent="0" lvl="0" marL="0" rtl="0" algn="l">
              <a:spcBef>
                <a:spcPts val="0"/>
              </a:spcBef>
              <a:spcAft>
                <a:spcPts val="0"/>
              </a:spcAft>
              <a:buNone/>
            </a:pPr>
            <a:r>
              <a:t/>
            </a:r>
            <a:endParaRPr b="1" sz="2300">
              <a:solidFill>
                <a:schemeClr val="dk1"/>
              </a:solidFill>
              <a:latin typeface="Times"/>
              <a:ea typeface="Times"/>
              <a:cs typeface="Times"/>
              <a:sym typeface="Times"/>
            </a:endParaRPr>
          </a:p>
        </p:txBody>
      </p:sp>
      <p:sp>
        <p:nvSpPr>
          <p:cNvPr id="118" name="Google Shape;118;p15"/>
          <p:cNvSpPr txBox="1"/>
          <p:nvPr/>
        </p:nvSpPr>
        <p:spPr>
          <a:xfrm>
            <a:off x="281925" y="693803"/>
            <a:ext cx="82932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Font typeface="Times"/>
              <a:buChar char="●"/>
            </a:pPr>
            <a:r>
              <a:rPr b="1" lang="en-US" sz="1600">
                <a:solidFill>
                  <a:schemeClr val="dk1"/>
                </a:solidFill>
                <a:latin typeface="Times"/>
                <a:ea typeface="Times"/>
                <a:cs typeface="Times"/>
                <a:sym typeface="Times"/>
              </a:rPr>
              <a:t>Copilot </a:t>
            </a:r>
            <a:r>
              <a:rPr lang="en-US" sz="1600">
                <a:solidFill>
                  <a:schemeClr val="dk1"/>
                </a:solidFill>
                <a:latin typeface="Times"/>
                <a:ea typeface="Times"/>
                <a:cs typeface="Times"/>
                <a:sym typeface="Times"/>
              </a:rPr>
              <a:t>helps employees perform tasks (draft emails, summarize documents, generate code).</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b="1" lang="en-US" sz="1600">
                <a:solidFill>
                  <a:schemeClr val="dk1"/>
                </a:solidFill>
                <a:latin typeface="Times"/>
                <a:ea typeface="Times"/>
                <a:cs typeface="Times"/>
                <a:sym typeface="Times"/>
              </a:rPr>
              <a:t>PromptPal </a:t>
            </a:r>
            <a:r>
              <a:rPr lang="en-US" sz="1600">
                <a:solidFill>
                  <a:schemeClr val="dk1"/>
                </a:solidFill>
                <a:latin typeface="Times"/>
                <a:ea typeface="Times"/>
                <a:cs typeface="Times"/>
                <a:sym typeface="Times"/>
              </a:rPr>
              <a:t>helps employees learn how to use AI tools effectively — including Copilot — by teaching foundational AI concepts, prompting strategies, and safe/accurate usage patterns.</a:t>
            </a:r>
            <a:endParaRPr sz="1600">
              <a:solidFill>
                <a:schemeClr val="dk1"/>
              </a:solidFill>
              <a:latin typeface="Times"/>
              <a:ea typeface="Times"/>
              <a:cs typeface="Times"/>
              <a:sym typeface="Times"/>
            </a:endParaRPr>
          </a:p>
        </p:txBody>
      </p:sp>
      <p:graphicFrame>
        <p:nvGraphicFramePr>
          <p:cNvPr id="119" name="Google Shape;119;p15"/>
          <p:cNvGraphicFramePr/>
          <p:nvPr/>
        </p:nvGraphicFramePr>
        <p:xfrm>
          <a:off x="114300" y="1691303"/>
          <a:ext cx="3000000" cy="3000000"/>
        </p:xfrm>
        <a:graphic>
          <a:graphicData uri="http://schemas.openxmlformats.org/drawingml/2006/table">
            <a:tbl>
              <a:tblPr>
                <a:noFill/>
                <a:tableStyleId>{DC4EB67F-FD1A-4A85-807B-C8CDE5A2BA3A}</a:tableStyleId>
              </a:tblPr>
              <a:tblGrid>
                <a:gridCol w="915125"/>
                <a:gridCol w="4278875"/>
                <a:gridCol w="3518000"/>
              </a:tblGrid>
              <a:tr h="415150">
                <a:tc>
                  <a:txBody>
                    <a:bodyPr/>
                    <a:lstStyle/>
                    <a:p>
                      <a:pPr indent="0" lvl="0" marL="0" rtl="0" algn="l">
                        <a:spcBef>
                          <a:spcPts val="0"/>
                        </a:spcBef>
                        <a:spcAft>
                          <a:spcPts val="0"/>
                        </a:spcAft>
                        <a:buNone/>
                      </a:pPr>
                      <a:r>
                        <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a:ea typeface="Times"/>
                          <a:cs typeface="Times"/>
                          <a:sym typeface="Times"/>
                        </a:rPr>
                        <a:t>PromptPal</a:t>
                      </a:r>
                      <a:endParaRPr b="1">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a:ea typeface="Times"/>
                          <a:cs typeface="Times"/>
                          <a:sym typeface="Times"/>
                        </a:rPr>
                        <a:t>Microsoft Copilot</a:t>
                      </a:r>
                      <a:endParaRPr b="1">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0475">
                <a:tc>
                  <a:txBody>
                    <a:bodyPr/>
                    <a:lstStyle/>
                    <a:p>
                      <a:pPr indent="0" lvl="0" marL="0" rtl="0" algn="l">
                        <a:spcBef>
                          <a:spcPts val="0"/>
                        </a:spcBef>
                        <a:spcAft>
                          <a:spcPts val="0"/>
                        </a:spcAft>
                        <a:buNone/>
                      </a:pPr>
                      <a:r>
                        <a:rPr b="1" lang="en-US">
                          <a:latin typeface="Times"/>
                          <a:ea typeface="Times"/>
                          <a:cs typeface="Times"/>
                          <a:sym typeface="Times"/>
                        </a:rPr>
                        <a:t>Primary Purpose</a:t>
                      </a:r>
                      <a:endParaRPr b="1">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Builds AI literacy through structured lessons, feedback, and quizzes</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Executes tasks (emails, summaries, analysis) quickly with AI</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8400">
                <a:tc>
                  <a:txBody>
                    <a:bodyPr/>
                    <a:lstStyle/>
                    <a:p>
                      <a:pPr indent="0" lvl="0" marL="0" rtl="0" algn="l">
                        <a:spcBef>
                          <a:spcPts val="0"/>
                        </a:spcBef>
                        <a:spcAft>
                          <a:spcPts val="0"/>
                        </a:spcAft>
                        <a:buNone/>
                      </a:pPr>
                      <a:r>
                        <a:rPr b="1" lang="en-US">
                          <a:latin typeface="Times"/>
                          <a:ea typeface="Times"/>
                          <a:cs typeface="Times"/>
                          <a:sym typeface="Times"/>
                        </a:rPr>
                        <a:t>Strength</a:t>
                      </a:r>
                      <a:endParaRPr b="1">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Teaches </a:t>
                      </a:r>
                      <a:r>
                        <a:rPr i="1" lang="en-US">
                          <a:latin typeface="Times"/>
                          <a:ea typeface="Times"/>
                          <a:cs typeface="Times"/>
                          <a:sym typeface="Times"/>
                        </a:rPr>
                        <a:t>how to prompt well</a:t>
                      </a:r>
                      <a:r>
                        <a:rPr lang="en-US">
                          <a:latin typeface="Times"/>
                          <a:ea typeface="Times"/>
                          <a:cs typeface="Times"/>
                          <a:sym typeface="Times"/>
                        </a:rPr>
                        <a:t> across workflows</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Generates content and automates routine work</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0475">
                <a:tc>
                  <a:txBody>
                    <a:bodyPr/>
                    <a:lstStyle/>
                    <a:p>
                      <a:pPr indent="0" lvl="0" marL="0" rtl="0" algn="l">
                        <a:spcBef>
                          <a:spcPts val="0"/>
                        </a:spcBef>
                        <a:spcAft>
                          <a:spcPts val="0"/>
                        </a:spcAft>
                        <a:buNone/>
                      </a:pPr>
                      <a:r>
                        <a:rPr b="1" lang="en-US">
                          <a:latin typeface="Times"/>
                          <a:ea typeface="Times"/>
                          <a:cs typeface="Times"/>
                          <a:sym typeface="Times"/>
                        </a:rPr>
                        <a:t>Target Audience</a:t>
                      </a:r>
                      <a:endParaRPr b="1">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All employees, especially non-technical roles needing guidance (Sales, Marketing, Ops, Compliance, IR, HR)</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Employees ready to apply prompting skills directly to work tasks</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0475">
                <a:tc>
                  <a:txBody>
                    <a:bodyPr/>
                    <a:lstStyle/>
                    <a:p>
                      <a:pPr indent="0" lvl="0" marL="0" rtl="0" algn="l">
                        <a:spcBef>
                          <a:spcPts val="0"/>
                        </a:spcBef>
                        <a:spcAft>
                          <a:spcPts val="0"/>
                        </a:spcAft>
                        <a:buNone/>
                      </a:pPr>
                      <a:r>
                        <a:rPr b="1" lang="en-US">
                          <a:latin typeface="Times"/>
                          <a:ea typeface="Times"/>
                          <a:cs typeface="Times"/>
                          <a:sym typeface="Times"/>
                        </a:rPr>
                        <a:t>Business Value</a:t>
                      </a:r>
                      <a:endParaRPr b="1">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Upskills workforce, improves AI consistency, reduces errors, enables firmwide adoption</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a:ea typeface="Times"/>
                          <a:cs typeface="Times"/>
                          <a:sym typeface="Times"/>
                        </a:rPr>
                        <a:t>Increases productivity, reduces time spent on drafting and</a:t>
                      </a:r>
                      <a:r>
                        <a:rPr lang="en-US">
                          <a:latin typeface="Times"/>
                          <a:ea typeface="Times"/>
                          <a:cs typeface="Times"/>
                          <a:sym typeface="Times"/>
                        </a:rPr>
                        <a:t> processing </a:t>
                      </a:r>
                      <a:r>
                        <a:rPr lang="en-US">
                          <a:latin typeface="Times"/>
                          <a:ea typeface="Times"/>
                          <a:cs typeface="Times"/>
                          <a:sym typeface="Times"/>
                        </a:rPr>
                        <a:t>information</a:t>
                      </a:r>
                      <a:endParaRPr>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cxnSp>
        <p:nvCxnSpPr>
          <p:cNvPr id="125" name="Google Shape;125;p16"/>
          <p:cNvCxnSpPr/>
          <p:nvPr/>
        </p:nvCxnSpPr>
        <p:spPr>
          <a:xfrm>
            <a:off x="1905000" y="3458875"/>
            <a:ext cx="5486400" cy="0"/>
          </a:xfrm>
          <a:prstGeom prst="straightConnector1">
            <a:avLst/>
          </a:prstGeom>
          <a:noFill/>
          <a:ln cap="flat" cmpd="sng" w="9525">
            <a:solidFill>
              <a:srgbClr val="FFFFFF"/>
            </a:solidFill>
            <a:prstDash val="solid"/>
            <a:round/>
            <a:headEnd len="med" w="med" type="none"/>
            <a:tailEnd len="med" w="med" type="none"/>
          </a:ln>
        </p:spPr>
      </p:cxnSp>
      <p:sp>
        <p:nvSpPr>
          <p:cNvPr id="126" name="Google Shape;126;p16"/>
          <p:cNvSpPr txBox="1"/>
          <p:nvPr/>
        </p:nvSpPr>
        <p:spPr>
          <a:xfrm>
            <a:off x="1828800" y="3611275"/>
            <a:ext cx="5257800" cy="685800"/>
          </a:xfrm>
          <a:prstGeom prst="rect">
            <a:avLst/>
          </a:prstGeom>
          <a:noFill/>
          <a:ln>
            <a:noFill/>
          </a:ln>
        </p:spPr>
        <p:txBody>
          <a:bodyPr anchorCtr="0" anchor="t" bIns="45700" lIns="91425" spcFirstLastPara="1" rIns="91425" wrap="square" tIns="45700">
            <a:noAutofit/>
          </a:bodyPr>
          <a:lstStyle/>
          <a:p>
            <a:pPr indent="-3175" lvl="0" marL="3175" marR="0" rtl="0" algn="l">
              <a:spcBef>
                <a:spcPts val="0"/>
              </a:spcBef>
              <a:spcAft>
                <a:spcPts val="0"/>
              </a:spcAft>
              <a:buNone/>
            </a:pPr>
            <a:r>
              <a:rPr b="0" i="0" lang="en-US" sz="1600" u="none" cap="none" strike="noStrike">
                <a:solidFill>
                  <a:srgbClr val="FFFFFF"/>
                </a:solidFill>
                <a:latin typeface="Open Sans"/>
                <a:ea typeface="Open Sans"/>
                <a:cs typeface="Open Sans"/>
                <a:sym typeface="Open Sans"/>
              </a:rPr>
              <a:t>Click to edit Presenter Name</a:t>
            </a:r>
            <a:endParaRPr/>
          </a:p>
          <a:p>
            <a:pPr indent="-3175" lvl="0" marL="3175" marR="0" rtl="0" algn="l">
              <a:spcBef>
                <a:spcPts val="320"/>
              </a:spcBef>
              <a:spcAft>
                <a:spcPts val="0"/>
              </a:spcAft>
              <a:buNone/>
            </a:pPr>
            <a:r>
              <a:rPr b="0" i="1" lang="en-US" sz="1600" u="none" cap="none" strike="noStrike">
                <a:solidFill>
                  <a:srgbClr val="FFFFFF"/>
                </a:solidFill>
                <a:latin typeface="Open Sans"/>
                <a:ea typeface="Open Sans"/>
                <a:cs typeface="Open Sans"/>
                <a:sym typeface="Open Sans"/>
              </a:rPr>
              <a:t>Presenter Title</a:t>
            </a:r>
            <a:endParaRPr/>
          </a:p>
        </p:txBody>
      </p:sp>
      <p:sp>
        <p:nvSpPr>
          <p:cNvPr id="127" name="Google Shape;127;p16"/>
          <p:cNvSpPr txBox="1"/>
          <p:nvPr/>
        </p:nvSpPr>
        <p:spPr>
          <a:xfrm>
            <a:off x="248850" y="199225"/>
            <a:ext cx="59844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How Employees Use PromptPal Day-to-Day</a:t>
            </a:r>
            <a:endParaRPr b="1" sz="2300">
              <a:solidFill>
                <a:schemeClr val="dk1"/>
              </a:solidFill>
              <a:latin typeface="Times"/>
              <a:ea typeface="Times"/>
              <a:cs typeface="Times"/>
              <a:sym typeface="Times"/>
            </a:endParaRPr>
          </a:p>
          <a:p>
            <a:pPr indent="0" lvl="0" marL="0" rtl="0" algn="l">
              <a:spcBef>
                <a:spcPts val="0"/>
              </a:spcBef>
              <a:spcAft>
                <a:spcPts val="0"/>
              </a:spcAft>
              <a:buNone/>
            </a:pPr>
            <a:r>
              <a:t/>
            </a:r>
            <a:endParaRPr b="1" sz="2300">
              <a:solidFill>
                <a:schemeClr val="dk1"/>
              </a:solidFill>
              <a:latin typeface="Times"/>
              <a:ea typeface="Times"/>
              <a:cs typeface="Times"/>
              <a:sym typeface="Times"/>
            </a:endParaRPr>
          </a:p>
        </p:txBody>
      </p:sp>
      <p:sp>
        <p:nvSpPr>
          <p:cNvPr id="128" name="Google Shape;128;p16"/>
          <p:cNvSpPr txBox="1"/>
          <p:nvPr/>
        </p:nvSpPr>
        <p:spPr>
          <a:xfrm>
            <a:off x="248850" y="808947"/>
            <a:ext cx="8293200" cy="37248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Font typeface="Times"/>
              <a:buChar char="●"/>
            </a:pPr>
            <a:r>
              <a:rPr lang="en-US" sz="1600">
                <a:solidFill>
                  <a:schemeClr val="dk1"/>
                </a:solidFill>
                <a:latin typeface="Times"/>
                <a:ea typeface="Times"/>
                <a:cs typeface="Times"/>
                <a:sym typeface="Times"/>
              </a:rPr>
              <a:t>Quick reference tutor before using Copilot or Athena</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Practice better prompting for emails, documents, and meeting prep</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Upload documents to learn structured prompts for summary/analysis</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Take short quizzes that reinforce correct AI usage</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Follow recommended modules tailored to their role</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lang="en-US" sz="1600">
                <a:solidFill>
                  <a:schemeClr val="dk1"/>
                </a:solidFill>
                <a:latin typeface="Times"/>
                <a:ea typeface="Times"/>
                <a:cs typeface="Times"/>
                <a:sym typeface="Times"/>
              </a:rPr>
              <a:t>Business Value</a:t>
            </a:r>
            <a:endParaRPr sz="1600">
              <a:solidFill>
                <a:schemeClr val="dk1"/>
              </a:solidFill>
              <a:latin typeface="Times"/>
              <a:ea typeface="Times"/>
              <a:cs typeface="Times"/>
              <a:sym typeface="Times"/>
            </a:endParaRPr>
          </a:p>
          <a:p>
            <a:pPr indent="-330200" lvl="0" marL="457200" rtl="0" algn="l">
              <a:lnSpc>
                <a:spcPct val="115000"/>
              </a:lnSpc>
              <a:spcBef>
                <a:spcPts val="1200"/>
              </a:spcBef>
              <a:spcAft>
                <a:spcPts val="0"/>
              </a:spcAft>
              <a:buClr>
                <a:schemeClr val="dk1"/>
              </a:buClr>
              <a:buSzPts val="1600"/>
              <a:buFont typeface="Times"/>
              <a:buChar char="●"/>
            </a:pPr>
            <a:r>
              <a:rPr lang="en-US" sz="1600">
                <a:solidFill>
                  <a:schemeClr val="dk1"/>
                </a:solidFill>
                <a:latin typeface="Times"/>
                <a:ea typeface="Times"/>
                <a:cs typeface="Times"/>
                <a:sym typeface="Times"/>
              </a:rPr>
              <a:t>Reduces time spent on repetitive tasks</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Ensures consistent and compliant AI usage across teams</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Upskills employees and accelerates AI adoption</a:t>
            </a:r>
            <a:endParaRPr sz="1600">
              <a:solidFill>
                <a:schemeClr val="dk1"/>
              </a:solidFill>
              <a:latin typeface="Times"/>
              <a:ea typeface="Times"/>
              <a:cs typeface="Times"/>
              <a:sym typeface="Times"/>
            </a:endParaRPr>
          </a:p>
          <a:p>
            <a:pPr indent="-330200" lvl="0" marL="457200" rtl="0" algn="l">
              <a:lnSpc>
                <a:spcPct val="115000"/>
              </a:lnSpc>
              <a:spcBef>
                <a:spcPts val="0"/>
              </a:spcBef>
              <a:spcAft>
                <a:spcPts val="0"/>
              </a:spcAft>
              <a:buClr>
                <a:schemeClr val="dk1"/>
              </a:buClr>
              <a:buSzPts val="1600"/>
              <a:buFont typeface="Times"/>
              <a:buChar char="●"/>
            </a:pPr>
            <a:r>
              <a:rPr lang="en-US" sz="1600">
                <a:solidFill>
                  <a:schemeClr val="dk1"/>
                </a:solidFill>
                <a:latin typeface="Times"/>
                <a:ea typeface="Times"/>
                <a:cs typeface="Times"/>
                <a:sym typeface="Times"/>
              </a:rPr>
              <a:t>Gives managers visibility into AI proficiency</a:t>
            </a:r>
            <a:endParaRPr sz="1600">
              <a:solidFill>
                <a:schemeClr val="dk1"/>
              </a:solidFill>
              <a:latin typeface="Times"/>
              <a:ea typeface="Times"/>
              <a:cs typeface="Times"/>
              <a:sym typeface="Times"/>
            </a:endParaRPr>
          </a:p>
          <a:p>
            <a:pPr indent="0" lvl="0" marL="0" rtl="0" algn="l">
              <a:lnSpc>
                <a:spcPct val="115000"/>
              </a:lnSpc>
              <a:spcBef>
                <a:spcPts val="1200"/>
              </a:spcBef>
              <a:spcAft>
                <a:spcPts val="1200"/>
              </a:spcAft>
              <a:buNone/>
            </a:pPr>
            <a:r>
              <a:t/>
            </a:r>
            <a:endParaRPr sz="1600">
              <a:solidFill>
                <a:schemeClr val="dk1"/>
              </a:solidFill>
              <a:latin typeface="Times"/>
              <a:ea typeface="Times"/>
              <a:cs typeface="Times"/>
              <a:sym typeface="Time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txBox="1"/>
          <p:nvPr/>
        </p:nvSpPr>
        <p:spPr>
          <a:xfrm>
            <a:off x="248850" y="199225"/>
            <a:ext cx="3665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Who This Supports</a:t>
            </a:r>
            <a:endParaRPr b="1" sz="2300">
              <a:solidFill>
                <a:schemeClr val="dk1"/>
              </a:solidFill>
              <a:latin typeface="Times"/>
              <a:ea typeface="Times"/>
              <a:cs typeface="Times"/>
              <a:sym typeface="Times"/>
            </a:endParaRPr>
          </a:p>
        </p:txBody>
      </p:sp>
      <p:sp>
        <p:nvSpPr>
          <p:cNvPr id="135" name="Google Shape;135;p17"/>
          <p:cNvSpPr txBox="1"/>
          <p:nvPr/>
        </p:nvSpPr>
        <p:spPr>
          <a:xfrm>
            <a:off x="426825" y="877325"/>
            <a:ext cx="7919100" cy="42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sz="1200">
                <a:solidFill>
                  <a:schemeClr val="dk1"/>
                </a:solidFill>
                <a:latin typeface="Times"/>
                <a:ea typeface="Times"/>
                <a:cs typeface="Times"/>
                <a:sym typeface="Times"/>
              </a:rPr>
              <a:t>PromptPal delivers value across every major functional group at Federated Hermes, especially non-technical users.</a:t>
            </a:r>
            <a:endParaRPr sz="1200">
              <a:solidFill>
                <a:schemeClr val="dk1"/>
              </a:solidFill>
              <a:latin typeface="Times"/>
              <a:ea typeface="Times"/>
              <a:cs typeface="Times"/>
              <a:sym typeface="Times"/>
            </a:endParaRPr>
          </a:p>
        </p:txBody>
      </p:sp>
      <p:graphicFrame>
        <p:nvGraphicFramePr>
          <p:cNvPr id="136" name="Google Shape;136;p17"/>
          <p:cNvGraphicFramePr/>
          <p:nvPr/>
        </p:nvGraphicFramePr>
        <p:xfrm>
          <a:off x="426825" y="1439625"/>
          <a:ext cx="3000000" cy="3000000"/>
        </p:xfrm>
        <a:graphic>
          <a:graphicData uri="http://schemas.openxmlformats.org/drawingml/2006/table">
            <a:tbl>
              <a:tblPr>
                <a:noFill/>
                <a:tableStyleId>{FC1B577F-C3AA-4619-838E-368C5E0619C7}</a:tableStyleId>
              </a:tblPr>
              <a:tblGrid>
                <a:gridCol w="1539600"/>
                <a:gridCol w="1737050"/>
                <a:gridCol w="1737050"/>
                <a:gridCol w="1737050"/>
                <a:gridCol w="1480375"/>
              </a:tblGrid>
              <a:tr h="381000">
                <a:tc>
                  <a:txBody>
                    <a:bodyPr/>
                    <a:lstStyle/>
                    <a:p>
                      <a:pPr indent="0" lvl="0" marL="0" rtl="0" algn="l">
                        <a:spcBef>
                          <a:spcPts val="0"/>
                        </a:spcBef>
                        <a:spcAft>
                          <a:spcPts val="0"/>
                        </a:spcAft>
                        <a:buNone/>
                      </a:pPr>
                      <a:r>
                        <a:rPr lang="en-US" sz="1200">
                          <a:latin typeface="Times"/>
                          <a:ea typeface="Times"/>
                          <a:cs typeface="Times"/>
                          <a:sym typeface="Times"/>
                        </a:rPr>
                        <a:t>Compliance Analyst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Client Service Associate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Marketing Associate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Operations Associate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HR Coordinator </a:t>
                      </a:r>
                      <a:endParaRPr sz="1200">
                        <a:latin typeface="Times"/>
                        <a:ea typeface="Times"/>
                        <a:cs typeface="Times"/>
                        <a:sym typeface="Times"/>
                      </a:endParaRPr>
                    </a:p>
                  </a:txBody>
                  <a:tcPr marT="91425" marB="91425" marR="91425" marL="91425"/>
                </a:tc>
              </a:tr>
              <a:tr h="381000">
                <a:tc>
                  <a:txBody>
                    <a:bodyPr/>
                    <a:lstStyle/>
                    <a:p>
                      <a:pPr indent="0" lvl="0" marL="0" rtl="0" algn="l">
                        <a:spcBef>
                          <a:spcPts val="0"/>
                        </a:spcBef>
                        <a:spcAft>
                          <a:spcPts val="0"/>
                        </a:spcAft>
                        <a:buNone/>
                      </a:pPr>
                      <a:r>
                        <a:rPr lang="en-US" sz="1200">
                          <a:latin typeface="Times"/>
                          <a:ea typeface="Times"/>
                          <a:cs typeface="Times"/>
                          <a:sym typeface="Times"/>
                        </a:rPr>
                        <a:t>Investor Relations Coordinator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Administrative Assistant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Project Coordinator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Product Specialist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Portfolio Operations Assistant </a:t>
                      </a:r>
                      <a:endParaRPr sz="1200">
                        <a:latin typeface="Times"/>
                        <a:ea typeface="Times"/>
                        <a:cs typeface="Times"/>
                        <a:sym typeface="Times"/>
                      </a:endParaRPr>
                    </a:p>
                  </a:txBody>
                  <a:tcPr marT="91425" marB="91425" marR="91425" marL="91425"/>
                </a:tc>
              </a:tr>
              <a:tr h="100000">
                <a:tc>
                  <a:txBody>
                    <a:bodyPr/>
                    <a:lstStyle/>
                    <a:p>
                      <a:pPr indent="0" lvl="0" marL="0" rtl="0" algn="l">
                        <a:spcBef>
                          <a:spcPts val="0"/>
                        </a:spcBef>
                        <a:spcAft>
                          <a:spcPts val="0"/>
                        </a:spcAft>
                        <a:buNone/>
                      </a:pPr>
                      <a:r>
                        <a:rPr lang="en-US" sz="1200">
                          <a:latin typeface="Times"/>
                          <a:ea typeface="Times"/>
                          <a:cs typeface="Times"/>
                          <a:sym typeface="Times"/>
                        </a:rPr>
                        <a:t>Communications Specialist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Training &amp; Development Associate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latin typeface="Times"/>
                          <a:ea typeface="Times"/>
                          <a:cs typeface="Times"/>
                          <a:sym typeface="Times"/>
                        </a:rPr>
                        <a:t>Sales Representative</a:t>
                      </a:r>
                      <a:endParaRPr sz="1200">
                        <a:latin typeface="Times"/>
                        <a:ea typeface="Times"/>
                        <a:cs typeface="Times"/>
                        <a:sym typeface="Times"/>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rPr lang="en-US" sz="1200">
                          <a:latin typeface="Times"/>
                          <a:ea typeface="Times"/>
                          <a:cs typeface="Times"/>
                          <a:sym typeface="Times"/>
                        </a:rPr>
                        <a:t>Executive Assistant</a:t>
                      </a:r>
                      <a:endParaRPr sz="1200">
                        <a:latin typeface="Times"/>
                        <a:ea typeface="Times"/>
                        <a:cs typeface="Times"/>
                        <a:sym typeface="Times"/>
                      </a:endParaRPr>
                    </a:p>
                  </a:txBody>
                  <a:tcPr marT="91425" marB="91425" marR="91425" marL="91425"/>
                </a:tc>
                <a:tc>
                  <a:txBody>
                    <a:bodyPr/>
                    <a:lstStyle/>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tc>
              </a:tr>
            </a:tbl>
          </a:graphicData>
        </a:graphic>
      </p:graphicFrame>
      <p:sp>
        <p:nvSpPr>
          <p:cNvPr id="137" name="Google Shape;137;p17"/>
          <p:cNvSpPr/>
          <p:nvPr/>
        </p:nvSpPr>
        <p:spPr>
          <a:xfrm>
            <a:off x="1366949" y="3411025"/>
            <a:ext cx="1919400" cy="7740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a:solidFill>
                  <a:srgbClr val="FFFFFF"/>
                </a:solidFill>
                <a:latin typeface="Albert Sans"/>
                <a:ea typeface="Albert Sans"/>
                <a:cs typeface="Albert Sans"/>
                <a:sym typeface="Albert Sans"/>
              </a:rPr>
              <a:t>Athena</a:t>
            </a:r>
            <a:endParaRPr b="1">
              <a:solidFill>
                <a:srgbClr val="FFFFFF"/>
              </a:solidFill>
              <a:latin typeface="Albert Sans"/>
              <a:ea typeface="Albert Sans"/>
              <a:cs typeface="Albert Sans"/>
              <a:sym typeface="Albert Sans"/>
            </a:endParaRPr>
          </a:p>
          <a:p>
            <a:pPr indent="0" lvl="0" marL="0" marR="0" rtl="0" algn="ctr">
              <a:lnSpc>
                <a:spcPct val="100000"/>
              </a:lnSpc>
              <a:spcBef>
                <a:spcPts val="0"/>
              </a:spcBef>
              <a:spcAft>
                <a:spcPts val="0"/>
              </a:spcAft>
              <a:buNone/>
            </a:pPr>
            <a:r>
              <a:rPr b="1" lang="en-US">
                <a:solidFill>
                  <a:srgbClr val="FFFFFF"/>
                </a:solidFill>
                <a:latin typeface="Albert Sans"/>
                <a:ea typeface="Albert Sans"/>
                <a:cs typeface="Albert Sans"/>
                <a:sym typeface="Albert Sans"/>
              </a:rPr>
              <a:t>(82 users)</a:t>
            </a:r>
            <a:endParaRPr b="1">
              <a:solidFill>
                <a:srgbClr val="FFFFFF"/>
              </a:solidFill>
              <a:latin typeface="Albert Sans"/>
              <a:ea typeface="Albert Sans"/>
              <a:cs typeface="Albert Sans"/>
              <a:sym typeface="Albert Sans"/>
            </a:endParaRPr>
          </a:p>
        </p:txBody>
      </p:sp>
      <p:sp>
        <p:nvSpPr>
          <p:cNvPr id="138" name="Google Shape;138;p17"/>
          <p:cNvSpPr/>
          <p:nvPr/>
        </p:nvSpPr>
        <p:spPr>
          <a:xfrm>
            <a:off x="5258174" y="3411025"/>
            <a:ext cx="1919400" cy="7740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Albert Sans"/>
                <a:ea typeface="Albert Sans"/>
                <a:cs typeface="Albert Sans"/>
                <a:sym typeface="Albert Sans"/>
              </a:rPr>
              <a:t>Firmwide</a:t>
            </a:r>
            <a:endParaRPr b="1">
              <a:solidFill>
                <a:srgbClr val="FFFFFF"/>
              </a:solidFill>
              <a:latin typeface="Albert Sans"/>
              <a:ea typeface="Albert Sans"/>
              <a:cs typeface="Albert Sans"/>
              <a:sym typeface="Albert Sans"/>
            </a:endParaRPr>
          </a:p>
          <a:p>
            <a:pPr indent="0" lvl="0" marL="0" rtl="0" algn="ctr">
              <a:spcBef>
                <a:spcPts val="0"/>
              </a:spcBef>
              <a:spcAft>
                <a:spcPts val="0"/>
              </a:spcAft>
              <a:buNone/>
            </a:pPr>
            <a:r>
              <a:rPr b="1" lang="en-US">
                <a:solidFill>
                  <a:srgbClr val="FFFFFF"/>
                </a:solidFill>
                <a:latin typeface="Albert Sans"/>
                <a:ea typeface="Albert Sans"/>
                <a:cs typeface="Albert Sans"/>
                <a:sym typeface="Albert Sans"/>
              </a:rPr>
              <a:t>(2000+)</a:t>
            </a:r>
            <a:endParaRPr b="1">
              <a:solidFill>
                <a:srgbClr val="FFFFFF"/>
              </a:solidFill>
              <a:latin typeface="Albert Sans"/>
              <a:ea typeface="Albert Sans"/>
              <a:cs typeface="Albert Sans"/>
              <a:sym typeface="Albert Sans"/>
            </a:endParaRPr>
          </a:p>
        </p:txBody>
      </p:sp>
      <p:sp>
        <p:nvSpPr>
          <p:cNvPr id="139" name="Google Shape;139;p17"/>
          <p:cNvSpPr/>
          <p:nvPr/>
        </p:nvSpPr>
        <p:spPr>
          <a:xfrm>
            <a:off x="3303475" y="3714275"/>
            <a:ext cx="1954800" cy="188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0" name="Google Shape;140;p17"/>
          <p:cNvSpPr txBox="1"/>
          <p:nvPr/>
        </p:nvSpPr>
        <p:spPr>
          <a:xfrm>
            <a:off x="3763462" y="3411013"/>
            <a:ext cx="1017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latin typeface="Times"/>
                <a:ea typeface="Times"/>
                <a:cs typeface="Times"/>
                <a:sym typeface="Times"/>
              </a:rPr>
              <a:t>scalable to</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txBox="1"/>
          <p:nvPr/>
        </p:nvSpPr>
        <p:spPr>
          <a:xfrm>
            <a:off x="175500" y="253750"/>
            <a:ext cx="3913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Database / Knowledge Base</a:t>
            </a:r>
            <a:endParaRPr b="1" sz="2300">
              <a:solidFill>
                <a:schemeClr val="dk1"/>
              </a:solidFill>
              <a:latin typeface="Times"/>
              <a:ea typeface="Times"/>
              <a:cs typeface="Times"/>
              <a:sym typeface="Times"/>
            </a:endParaRPr>
          </a:p>
        </p:txBody>
      </p:sp>
      <p:pic>
        <p:nvPicPr>
          <p:cNvPr id="147" name="Google Shape;147;p18"/>
          <p:cNvPicPr preferRelativeResize="0"/>
          <p:nvPr/>
        </p:nvPicPr>
        <p:blipFill>
          <a:blip r:embed="rId3">
            <a:alphaModFix/>
          </a:blip>
          <a:stretch>
            <a:fillRect/>
          </a:stretch>
        </p:blipFill>
        <p:spPr>
          <a:xfrm>
            <a:off x="395700" y="2171775"/>
            <a:ext cx="937450" cy="937450"/>
          </a:xfrm>
          <a:prstGeom prst="rect">
            <a:avLst/>
          </a:prstGeom>
          <a:noFill/>
          <a:ln>
            <a:noFill/>
          </a:ln>
        </p:spPr>
      </p:pic>
      <p:graphicFrame>
        <p:nvGraphicFramePr>
          <p:cNvPr id="148" name="Google Shape;148;p18"/>
          <p:cNvGraphicFramePr/>
          <p:nvPr/>
        </p:nvGraphicFramePr>
        <p:xfrm>
          <a:off x="1589725" y="852881"/>
          <a:ext cx="3000000" cy="3000000"/>
        </p:xfrm>
        <a:graphic>
          <a:graphicData uri="http://schemas.openxmlformats.org/drawingml/2006/table">
            <a:tbl>
              <a:tblPr>
                <a:noFill/>
                <a:tableStyleId>{DC4EB67F-FD1A-4A85-807B-C8CDE5A2BA3A}</a:tableStyleId>
              </a:tblPr>
              <a:tblGrid>
                <a:gridCol w="1368975"/>
                <a:gridCol w="2217675"/>
                <a:gridCol w="2481850"/>
              </a:tblGrid>
              <a:tr h="358250">
                <a:tc>
                  <a:txBody>
                    <a:bodyPr/>
                    <a:lstStyle/>
                    <a:p>
                      <a:pPr indent="0" lvl="0" marL="0" rtl="0" algn="ctr">
                        <a:lnSpc>
                          <a:spcPct val="115000"/>
                        </a:lnSpc>
                        <a:spcBef>
                          <a:spcPts val="0"/>
                        </a:spcBef>
                        <a:spcAft>
                          <a:spcPts val="0"/>
                        </a:spcAft>
                        <a:buNone/>
                      </a:pPr>
                      <a:r>
                        <a:rPr b="1" lang="en-US" sz="1200">
                          <a:latin typeface="Times"/>
                          <a:ea typeface="Times"/>
                          <a:cs typeface="Times"/>
                          <a:sym typeface="Times"/>
                        </a:rPr>
                        <a:t>Table</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Times"/>
                          <a:ea typeface="Times"/>
                          <a:cs typeface="Times"/>
                          <a:sym typeface="Times"/>
                        </a:rPr>
                        <a:t>Purpose</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Times"/>
                          <a:ea typeface="Times"/>
                          <a:cs typeface="Times"/>
                          <a:sym typeface="Times"/>
                        </a:rPr>
                        <a:t>Key Fields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56250">
                <a:tc>
                  <a:txBody>
                    <a:bodyPr/>
                    <a:lstStyle/>
                    <a:p>
                      <a:pPr indent="0" lvl="0" marL="0" rtl="0" algn="l">
                        <a:spcBef>
                          <a:spcPts val="0"/>
                        </a:spcBef>
                        <a:spcAft>
                          <a:spcPts val="0"/>
                        </a:spcAft>
                        <a:buNone/>
                      </a:pPr>
                      <a:r>
                        <a:rPr b="1" lang="en-US" sz="1200">
                          <a:latin typeface="Times"/>
                          <a:ea typeface="Times"/>
                          <a:cs typeface="Times"/>
                          <a:sym typeface="Times"/>
                        </a:rPr>
                        <a:t>Users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Stores user profiles and long-term learning state.</a:t>
                      </a:r>
                      <a:endParaRPr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user_id, email, role, long_term_summary, prompts, created_at, updated_at</a:t>
                      </a:r>
                      <a:endParaRPr sz="1000">
                        <a:solidFill>
                          <a:srgbClr val="188038"/>
                        </a:solidFill>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401475">
                <a:tc>
                  <a:txBody>
                    <a:bodyPr/>
                    <a:lstStyle/>
                    <a:p>
                      <a:pPr indent="0" lvl="0" marL="0" rtl="0" algn="l">
                        <a:spcBef>
                          <a:spcPts val="0"/>
                        </a:spcBef>
                        <a:spcAft>
                          <a:spcPts val="0"/>
                        </a:spcAft>
                        <a:buNone/>
                      </a:pPr>
                      <a:r>
                        <a:rPr b="1" lang="en-US" sz="1200">
                          <a:latin typeface="Times"/>
                          <a:ea typeface="Times"/>
                          <a:cs typeface="Times"/>
                          <a:sym typeface="Times"/>
                        </a:rPr>
                        <a:t>Role_Tasks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Initialize user role and AI tasks</a:t>
                      </a:r>
                      <a:endParaRPr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user_id, role_name, task</a:t>
                      </a:r>
                      <a:endParaRPr sz="1000">
                        <a:solidFill>
                          <a:srgbClr val="188038"/>
                        </a:solidFill>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497400">
                <a:tc>
                  <a:txBody>
                    <a:bodyPr/>
                    <a:lstStyle/>
                    <a:p>
                      <a:pPr indent="0" lvl="0" marL="0" rtl="0" algn="l">
                        <a:spcBef>
                          <a:spcPts val="0"/>
                        </a:spcBef>
                        <a:spcAft>
                          <a:spcPts val="0"/>
                        </a:spcAft>
                        <a:buNone/>
                      </a:pPr>
                      <a:r>
                        <a:rPr b="1" lang="en-US" sz="1200">
                          <a:latin typeface="Times"/>
                          <a:ea typeface="Times"/>
                          <a:cs typeface="Times"/>
                          <a:sym typeface="Times"/>
                        </a:rPr>
                        <a:t>Progress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Tracks learning progress and quiz performance.</a:t>
                      </a:r>
                      <a:endParaRPr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progress_id, user_id, completed_modules, quiz_scores, interaction_log, last_login</a:t>
                      </a:r>
                      <a:endParaRPr sz="1000">
                        <a:solidFill>
                          <a:srgbClr val="188038"/>
                        </a:solidFill>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341550">
                <a:tc>
                  <a:txBody>
                    <a:bodyPr/>
                    <a:lstStyle/>
                    <a:p>
                      <a:pPr indent="0" lvl="0" marL="0" rtl="0" algn="l">
                        <a:spcBef>
                          <a:spcPts val="0"/>
                        </a:spcBef>
                        <a:spcAft>
                          <a:spcPts val="0"/>
                        </a:spcAft>
                        <a:buNone/>
                      </a:pPr>
                      <a:r>
                        <a:rPr b="1" lang="en-US" sz="1200">
                          <a:latin typeface="Times"/>
                          <a:ea typeface="Times"/>
                          <a:cs typeface="Times"/>
                          <a:sym typeface="Times"/>
                        </a:rPr>
                        <a:t>Interactions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Full conversation logs</a:t>
                      </a:r>
                      <a:endParaRPr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interaction_id, user_id, log, timestamp</a:t>
                      </a:r>
                      <a:endParaRPr sz="1000">
                        <a:solidFill>
                          <a:srgbClr val="188038"/>
                        </a:solidFill>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497400">
                <a:tc>
                  <a:txBody>
                    <a:bodyPr/>
                    <a:lstStyle/>
                    <a:p>
                      <a:pPr indent="0" lvl="0" marL="0" rtl="0" algn="l">
                        <a:spcBef>
                          <a:spcPts val="0"/>
                        </a:spcBef>
                        <a:spcAft>
                          <a:spcPts val="0"/>
                        </a:spcAft>
                        <a:buNone/>
                      </a:pPr>
                      <a:r>
                        <a:rPr b="1" lang="en-US" sz="1200">
                          <a:latin typeface="Times"/>
                          <a:ea typeface="Times"/>
                          <a:cs typeface="Times"/>
                          <a:sym typeface="Times"/>
                        </a:rPr>
                        <a:t>User Documents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Metadata for uploaded documents; links to Weaviate chunks.</a:t>
                      </a:r>
                      <a:endParaRPr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document_id, user_id, filename, file_type, file_size, upload_date, status, weaviate_doc_id, chunk_count</a:t>
                      </a:r>
                      <a:endParaRPr sz="1000">
                        <a:solidFill>
                          <a:srgbClr val="188038"/>
                        </a:solidFill>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497400">
                <a:tc>
                  <a:txBody>
                    <a:bodyPr/>
                    <a:lstStyle/>
                    <a:p>
                      <a:pPr indent="0" lvl="0" marL="0" rtl="0" algn="l">
                        <a:spcBef>
                          <a:spcPts val="0"/>
                        </a:spcBef>
                        <a:spcAft>
                          <a:spcPts val="0"/>
                        </a:spcAft>
                        <a:buNone/>
                      </a:pPr>
                      <a:r>
                        <a:rPr b="1" lang="en-US" sz="1200">
                          <a:latin typeface="Times"/>
                          <a:ea typeface="Times"/>
                          <a:cs typeface="Times"/>
                          <a:sym typeface="Times"/>
                        </a:rPr>
                        <a:t>Sessions</a:t>
                      </a:r>
                      <a:endParaRPr b="1"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Manages authentication sessions.</a:t>
                      </a:r>
                      <a:endParaRPr sz="12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session_id, user_id, session_token, expires_at, created_at</a:t>
                      </a:r>
                      <a:endParaRPr sz="1000">
                        <a:solidFill>
                          <a:srgbClr val="188038"/>
                        </a:solidFill>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bl>
          </a:graphicData>
        </a:graphic>
      </p:graphicFrame>
      <p:pic>
        <p:nvPicPr>
          <p:cNvPr id="149" name="Google Shape;149;p18" title="Screenshot 2025-10-20 at 6.19.51 PM.png"/>
          <p:cNvPicPr preferRelativeResize="0"/>
          <p:nvPr/>
        </p:nvPicPr>
        <p:blipFill>
          <a:blip r:embed="rId4">
            <a:alphaModFix/>
          </a:blip>
          <a:stretch>
            <a:fillRect/>
          </a:stretch>
        </p:blipFill>
        <p:spPr>
          <a:xfrm>
            <a:off x="175500" y="1091774"/>
            <a:ext cx="416350" cy="411450"/>
          </a:xfrm>
          <a:prstGeom prst="rect">
            <a:avLst/>
          </a:prstGeom>
          <a:noFill/>
          <a:ln>
            <a:noFill/>
          </a:ln>
        </p:spPr>
      </p:pic>
      <p:sp>
        <p:nvSpPr>
          <p:cNvPr id="150" name="Google Shape;150;p18"/>
          <p:cNvSpPr txBox="1"/>
          <p:nvPr/>
        </p:nvSpPr>
        <p:spPr>
          <a:xfrm>
            <a:off x="500525" y="1005000"/>
            <a:ext cx="1135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dk1"/>
                </a:solidFill>
                <a:latin typeface="Times"/>
                <a:ea typeface="Times"/>
                <a:cs typeface="Times"/>
                <a:sym typeface="Times"/>
              </a:rPr>
              <a:t>user info</a:t>
            </a:r>
            <a:endParaRPr b="1" sz="1300">
              <a:solidFill>
                <a:schemeClr val="dk1"/>
              </a:solidFill>
              <a:latin typeface="Times"/>
              <a:ea typeface="Times"/>
              <a:cs typeface="Times"/>
              <a:sym typeface="Times"/>
            </a:endParaRPr>
          </a:p>
          <a:p>
            <a:pPr indent="0" lvl="0" marL="0" rtl="0" algn="l">
              <a:spcBef>
                <a:spcPts val="0"/>
              </a:spcBef>
              <a:spcAft>
                <a:spcPts val="0"/>
              </a:spcAft>
              <a:buNone/>
            </a:pPr>
            <a:r>
              <a:rPr b="1" lang="en-US" sz="1300">
                <a:solidFill>
                  <a:schemeClr val="dk1"/>
                </a:solidFill>
                <a:latin typeface="Times"/>
                <a:ea typeface="Times"/>
                <a:cs typeface="Times"/>
                <a:sym typeface="Times"/>
              </a:rPr>
              <a:t>conversation</a:t>
            </a:r>
            <a:endParaRPr b="1" sz="1300">
              <a:solidFill>
                <a:schemeClr val="dk1"/>
              </a:solidFill>
              <a:latin typeface="Times"/>
              <a:ea typeface="Times"/>
              <a:cs typeface="Times"/>
              <a:sym typeface="Times"/>
            </a:endParaRPr>
          </a:p>
        </p:txBody>
      </p:sp>
      <p:cxnSp>
        <p:nvCxnSpPr>
          <p:cNvPr id="151" name="Google Shape;151;p18"/>
          <p:cNvCxnSpPr/>
          <p:nvPr/>
        </p:nvCxnSpPr>
        <p:spPr>
          <a:xfrm>
            <a:off x="924800" y="1590000"/>
            <a:ext cx="0" cy="415800"/>
          </a:xfrm>
          <a:prstGeom prst="straightConnector1">
            <a:avLst/>
          </a:prstGeom>
          <a:noFill/>
          <a:ln cap="flat" cmpd="sng" w="9525">
            <a:solidFill>
              <a:schemeClr val="dk2"/>
            </a:solidFill>
            <a:prstDash val="solid"/>
            <a:round/>
            <a:headEnd len="med" w="med" type="none"/>
            <a:tailEnd len="med" w="med" type="triangle"/>
          </a:ln>
        </p:spPr>
      </p:cxnSp>
      <p:pic>
        <p:nvPicPr>
          <p:cNvPr id="152" name="Google Shape;152;p18"/>
          <p:cNvPicPr preferRelativeResize="0"/>
          <p:nvPr/>
        </p:nvPicPr>
        <p:blipFill>
          <a:blip r:embed="rId5">
            <a:alphaModFix/>
          </a:blip>
          <a:stretch>
            <a:fillRect/>
          </a:stretch>
        </p:blipFill>
        <p:spPr>
          <a:xfrm>
            <a:off x="395700" y="3478000"/>
            <a:ext cx="937450" cy="937450"/>
          </a:xfrm>
          <a:prstGeom prst="rect">
            <a:avLst/>
          </a:prstGeom>
          <a:noFill/>
          <a:ln>
            <a:noFill/>
          </a:ln>
        </p:spPr>
      </p:pic>
      <p:cxnSp>
        <p:nvCxnSpPr>
          <p:cNvPr id="153" name="Google Shape;153;p18"/>
          <p:cNvCxnSpPr/>
          <p:nvPr/>
        </p:nvCxnSpPr>
        <p:spPr>
          <a:xfrm>
            <a:off x="916025" y="3275200"/>
            <a:ext cx="900" cy="405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nvSpPr>
        <p:spPr>
          <a:xfrm>
            <a:off x="175500" y="253750"/>
            <a:ext cx="3913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Database / Knowledge Base</a:t>
            </a:r>
            <a:endParaRPr b="1" sz="2300">
              <a:solidFill>
                <a:schemeClr val="dk1"/>
              </a:solidFill>
              <a:latin typeface="Times"/>
              <a:ea typeface="Times"/>
              <a:cs typeface="Times"/>
              <a:sym typeface="Times"/>
            </a:endParaRPr>
          </a:p>
        </p:txBody>
      </p:sp>
      <p:pic>
        <p:nvPicPr>
          <p:cNvPr id="160" name="Google Shape;160;p19"/>
          <p:cNvPicPr preferRelativeResize="0"/>
          <p:nvPr/>
        </p:nvPicPr>
        <p:blipFill>
          <a:blip r:embed="rId3">
            <a:alphaModFix/>
          </a:blip>
          <a:stretch>
            <a:fillRect/>
          </a:stretch>
        </p:blipFill>
        <p:spPr>
          <a:xfrm>
            <a:off x="1868000" y="1872788"/>
            <a:ext cx="1031600" cy="1031600"/>
          </a:xfrm>
          <a:prstGeom prst="rect">
            <a:avLst/>
          </a:prstGeom>
          <a:noFill/>
          <a:ln>
            <a:noFill/>
          </a:ln>
        </p:spPr>
      </p:pic>
      <p:graphicFrame>
        <p:nvGraphicFramePr>
          <p:cNvPr id="161" name="Google Shape;161;p19"/>
          <p:cNvGraphicFramePr/>
          <p:nvPr/>
        </p:nvGraphicFramePr>
        <p:xfrm>
          <a:off x="2968775" y="1301175"/>
          <a:ext cx="3000000" cy="3000000"/>
        </p:xfrm>
        <a:graphic>
          <a:graphicData uri="http://schemas.openxmlformats.org/drawingml/2006/table">
            <a:tbl>
              <a:tblPr>
                <a:noFill/>
                <a:tableStyleId>{DC4EB67F-FD1A-4A85-807B-C8CDE5A2BA3A}</a:tableStyleId>
              </a:tblPr>
              <a:tblGrid>
                <a:gridCol w="1439400"/>
                <a:gridCol w="2154750"/>
                <a:gridCol w="2258300"/>
              </a:tblGrid>
              <a:tr h="596875">
                <a:tc>
                  <a:txBody>
                    <a:bodyPr/>
                    <a:lstStyle/>
                    <a:p>
                      <a:pPr indent="0" lvl="0" marL="0" rtl="0" algn="l">
                        <a:spcBef>
                          <a:spcPts val="0"/>
                        </a:spcBef>
                        <a:spcAft>
                          <a:spcPts val="0"/>
                        </a:spcAft>
                        <a:buNone/>
                      </a:pPr>
                      <a:r>
                        <a:rPr b="1" lang="en-US" sz="1200">
                          <a:latin typeface="Times"/>
                          <a:ea typeface="Times"/>
                          <a:cs typeface="Times"/>
                          <a:sym typeface="Times"/>
                        </a:rPr>
                        <a:t>Core Concept</a:t>
                      </a:r>
                      <a:endParaRPr b="1"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Stores foundational AI concepts and explanations.</a:t>
                      </a:r>
                      <a:endParaRPr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title</a:t>
                      </a:r>
                      <a:r>
                        <a:rPr lang="en-US" sz="1000">
                          <a:latin typeface="Times"/>
                          <a:ea typeface="Times"/>
                          <a:cs typeface="Times"/>
                          <a:sym typeface="Times"/>
                        </a:rPr>
                        <a:t>, </a:t>
                      </a:r>
                      <a:r>
                        <a:rPr lang="en-US" sz="1000">
                          <a:solidFill>
                            <a:srgbClr val="188038"/>
                          </a:solidFill>
                          <a:latin typeface="Times"/>
                          <a:ea typeface="Times"/>
                          <a:cs typeface="Times"/>
                          <a:sym typeface="Times"/>
                        </a:rPr>
                        <a:t>content</a:t>
                      </a:r>
                      <a:r>
                        <a:rPr lang="en-US" sz="1000">
                          <a:latin typeface="Times"/>
                          <a:ea typeface="Times"/>
                          <a:cs typeface="Times"/>
                          <a:sym typeface="Times"/>
                        </a:rPr>
                        <a:t>, </a:t>
                      </a:r>
                      <a:r>
                        <a:rPr lang="en-US" sz="1000">
                          <a:solidFill>
                            <a:srgbClr val="188038"/>
                          </a:solidFill>
                          <a:latin typeface="Times"/>
                          <a:ea typeface="Times"/>
                          <a:cs typeface="Times"/>
                          <a:sym typeface="Times"/>
                        </a:rPr>
                        <a:t>topic</a:t>
                      </a:r>
                      <a:r>
                        <a:rPr lang="en-US" sz="1000">
                          <a:latin typeface="Times"/>
                          <a:ea typeface="Times"/>
                          <a:cs typeface="Times"/>
                          <a:sym typeface="Times"/>
                        </a:rPr>
                        <a:t>, </a:t>
                      </a:r>
                      <a:r>
                        <a:rPr lang="en-US" sz="1000">
                          <a:solidFill>
                            <a:srgbClr val="188038"/>
                          </a:solidFill>
                          <a:latin typeface="Times"/>
                          <a:ea typeface="Times"/>
                          <a:cs typeface="Times"/>
                          <a:sym typeface="Times"/>
                        </a:rPr>
                        <a:t>tags</a:t>
                      </a:r>
                      <a:r>
                        <a:rPr lang="en-US" sz="1000">
                          <a:latin typeface="Times"/>
                          <a:ea typeface="Times"/>
                          <a:cs typeface="Times"/>
                          <a:sym typeface="Times"/>
                        </a:rPr>
                        <a:t>, </a:t>
                      </a:r>
                      <a:r>
                        <a:rPr lang="en-US" sz="1000">
                          <a:solidFill>
                            <a:srgbClr val="188038"/>
                          </a:solidFill>
                          <a:latin typeface="Times"/>
                          <a:ea typeface="Times"/>
                          <a:cs typeface="Times"/>
                          <a:sym typeface="Times"/>
                        </a:rPr>
                        <a:t>role</a:t>
                      </a:r>
                      <a:endParaRPr sz="1000">
                        <a:solidFill>
                          <a:srgbClr val="188038"/>
                        </a:solidFill>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795175">
                <a:tc>
                  <a:txBody>
                    <a:bodyPr/>
                    <a:lstStyle/>
                    <a:p>
                      <a:pPr indent="0" lvl="0" marL="0" rtl="0" algn="l">
                        <a:spcBef>
                          <a:spcPts val="0"/>
                        </a:spcBef>
                        <a:spcAft>
                          <a:spcPts val="0"/>
                        </a:spcAft>
                        <a:buNone/>
                      </a:pPr>
                      <a:r>
                        <a:rPr b="1" lang="en-US" sz="1200">
                          <a:latin typeface="Times"/>
                          <a:ea typeface="Times"/>
                          <a:cs typeface="Times"/>
                          <a:sym typeface="Times"/>
                        </a:rPr>
                        <a:t>Use Case</a:t>
                      </a:r>
                      <a:endParaRPr b="1"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Contains practical exercises and real-world examples linked to CoreConcepts.</a:t>
                      </a:r>
                      <a:endParaRPr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application</a:t>
                      </a:r>
                      <a:r>
                        <a:rPr lang="en-US" sz="1000">
                          <a:latin typeface="Times"/>
                          <a:ea typeface="Times"/>
                          <a:cs typeface="Times"/>
                          <a:sym typeface="Times"/>
                        </a:rPr>
                        <a:t>, </a:t>
                      </a:r>
                      <a:r>
                        <a:rPr lang="en-US" sz="1000">
                          <a:solidFill>
                            <a:srgbClr val="188038"/>
                          </a:solidFill>
                          <a:latin typeface="Times"/>
                          <a:ea typeface="Times"/>
                          <a:cs typeface="Times"/>
                          <a:sym typeface="Times"/>
                        </a:rPr>
                        <a:t>ai_concepts</a:t>
                      </a:r>
                      <a:r>
                        <a:rPr lang="en-US" sz="1000">
                          <a:latin typeface="Times"/>
                          <a:ea typeface="Times"/>
                          <a:cs typeface="Times"/>
                          <a:sym typeface="Times"/>
                        </a:rPr>
                        <a:t>, </a:t>
                      </a:r>
                      <a:r>
                        <a:rPr lang="en-US" sz="1000">
                          <a:solidFill>
                            <a:srgbClr val="188038"/>
                          </a:solidFill>
                          <a:latin typeface="Times"/>
                          <a:ea typeface="Times"/>
                          <a:cs typeface="Times"/>
                          <a:sym typeface="Times"/>
                        </a:rPr>
                        <a:t>business_value</a:t>
                      </a:r>
                      <a:r>
                        <a:rPr lang="en-US" sz="1000">
                          <a:latin typeface="Times"/>
                          <a:ea typeface="Times"/>
                          <a:cs typeface="Times"/>
                          <a:sym typeface="Times"/>
                        </a:rPr>
                        <a:t>, </a:t>
                      </a:r>
                      <a:r>
                        <a:rPr lang="en-US" sz="1000">
                          <a:solidFill>
                            <a:srgbClr val="188038"/>
                          </a:solidFill>
                          <a:latin typeface="Times"/>
                          <a:ea typeface="Times"/>
                          <a:cs typeface="Times"/>
                          <a:sym typeface="Times"/>
                        </a:rPr>
                        <a:t>related_concepts</a:t>
                      </a:r>
                      <a:endParaRPr sz="1000">
                        <a:solidFill>
                          <a:srgbClr val="188038"/>
                        </a:solidFill>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795175">
                <a:tc>
                  <a:txBody>
                    <a:bodyPr/>
                    <a:lstStyle/>
                    <a:p>
                      <a:pPr indent="0" lvl="0" marL="0" rtl="0" algn="l">
                        <a:spcBef>
                          <a:spcPts val="0"/>
                        </a:spcBef>
                        <a:spcAft>
                          <a:spcPts val="0"/>
                        </a:spcAft>
                        <a:buNone/>
                      </a:pPr>
                      <a:r>
                        <a:rPr b="1" lang="en-US" sz="1200">
                          <a:latin typeface="Times"/>
                          <a:ea typeface="Times"/>
                          <a:cs typeface="Times"/>
                          <a:sym typeface="Times"/>
                        </a:rPr>
                        <a:t>Document Chunks</a:t>
                      </a:r>
                      <a:endParaRPr b="1"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Vector embeddings of uploaded documents, linked to UserDocuments.</a:t>
                      </a:r>
                      <a:endParaRPr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chunk_text, embedding, metadata, doc_reference (weaviate_doc_id)</a:t>
                      </a:r>
                      <a:endParaRPr sz="1000">
                        <a:solidFill>
                          <a:srgbClr val="188038"/>
                        </a:solidFill>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561775">
                <a:tc>
                  <a:txBody>
                    <a:bodyPr/>
                    <a:lstStyle/>
                    <a:p>
                      <a:pPr indent="0" lvl="0" marL="0" rtl="0" algn="l">
                        <a:spcBef>
                          <a:spcPts val="0"/>
                        </a:spcBef>
                        <a:spcAft>
                          <a:spcPts val="0"/>
                        </a:spcAft>
                        <a:buNone/>
                      </a:pPr>
                      <a:r>
                        <a:rPr b="1" lang="en-US" sz="1200">
                          <a:latin typeface="Times"/>
                          <a:ea typeface="Times"/>
                          <a:cs typeface="Times"/>
                          <a:sym typeface="Times"/>
                        </a:rPr>
                        <a:t>Prompt Guide</a:t>
                      </a:r>
                      <a:endParaRPr b="1"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FHI Internal  Prompt Engineering Guide</a:t>
                      </a:r>
                      <a:endParaRPr sz="1200">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000">
                          <a:solidFill>
                            <a:srgbClr val="188038"/>
                          </a:solidFill>
                          <a:latin typeface="Times"/>
                          <a:ea typeface="Times"/>
                          <a:cs typeface="Times"/>
                          <a:sym typeface="Times"/>
                        </a:rPr>
                        <a:t>content_id, title, content, section, tags</a:t>
                      </a:r>
                      <a:endParaRPr sz="1000">
                        <a:solidFill>
                          <a:srgbClr val="188038"/>
                        </a:solidFill>
                        <a:latin typeface="Times"/>
                        <a:ea typeface="Times"/>
                        <a:cs typeface="Times"/>
                        <a:sym typeface="Time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bl>
          </a:graphicData>
        </a:graphic>
      </p:graphicFrame>
      <p:pic>
        <p:nvPicPr>
          <p:cNvPr id="162" name="Google Shape;162;p19"/>
          <p:cNvPicPr preferRelativeResize="0"/>
          <p:nvPr/>
        </p:nvPicPr>
        <p:blipFill>
          <a:blip r:embed="rId4">
            <a:alphaModFix/>
          </a:blip>
          <a:stretch>
            <a:fillRect/>
          </a:stretch>
        </p:blipFill>
        <p:spPr>
          <a:xfrm>
            <a:off x="175500" y="1830265"/>
            <a:ext cx="322801" cy="322801"/>
          </a:xfrm>
          <a:prstGeom prst="rect">
            <a:avLst/>
          </a:prstGeom>
          <a:noFill/>
          <a:ln>
            <a:noFill/>
          </a:ln>
        </p:spPr>
      </p:pic>
      <p:sp>
        <p:nvSpPr>
          <p:cNvPr id="163" name="Google Shape;163;p19"/>
          <p:cNvSpPr txBox="1"/>
          <p:nvPr/>
        </p:nvSpPr>
        <p:spPr>
          <a:xfrm>
            <a:off x="453750" y="1683713"/>
            <a:ext cx="1145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dk1"/>
                </a:solidFill>
                <a:latin typeface="Times"/>
                <a:ea typeface="Times"/>
                <a:cs typeface="Times"/>
                <a:sym typeface="Times"/>
              </a:rPr>
              <a:t>ai_concepts</a:t>
            </a:r>
            <a:endParaRPr b="1" sz="1300">
              <a:solidFill>
                <a:schemeClr val="dk1"/>
              </a:solidFill>
              <a:latin typeface="Times"/>
              <a:ea typeface="Times"/>
              <a:cs typeface="Times"/>
              <a:sym typeface="Times"/>
            </a:endParaRPr>
          </a:p>
          <a:p>
            <a:pPr indent="0" lvl="0" marL="0" rtl="0" algn="l">
              <a:spcBef>
                <a:spcPts val="0"/>
              </a:spcBef>
              <a:spcAft>
                <a:spcPts val="0"/>
              </a:spcAft>
              <a:buNone/>
            </a:pPr>
            <a:r>
              <a:rPr b="1" lang="en-US" sz="1300">
                <a:solidFill>
                  <a:schemeClr val="dk1"/>
                </a:solidFill>
                <a:latin typeface="Times"/>
                <a:ea typeface="Times"/>
                <a:cs typeface="Times"/>
                <a:sym typeface="Times"/>
              </a:rPr>
              <a:t>use_case</a:t>
            </a:r>
            <a:endParaRPr b="1" sz="1300">
              <a:solidFill>
                <a:schemeClr val="dk1"/>
              </a:solidFill>
              <a:latin typeface="Times"/>
              <a:ea typeface="Times"/>
              <a:cs typeface="Times"/>
              <a:sym typeface="Times"/>
            </a:endParaRPr>
          </a:p>
        </p:txBody>
      </p:sp>
      <p:cxnSp>
        <p:nvCxnSpPr>
          <p:cNvPr id="164" name="Google Shape;164;p19"/>
          <p:cNvCxnSpPr>
            <a:stCxn id="163" idx="3"/>
            <a:endCxn id="160" idx="1"/>
          </p:cNvCxnSpPr>
          <p:nvPr/>
        </p:nvCxnSpPr>
        <p:spPr>
          <a:xfrm>
            <a:off x="1599150" y="1976213"/>
            <a:ext cx="268800" cy="412500"/>
          </a:xfrm>
          <a:prstGeom prst="straightConnector1">
            <a:avLst/>
          </a:prstGeom>
          <a:noFill/>
          <a:ln cap="flat" cmpd="sng" w="9525">
            <a:solidFill>
              <a:schemeClr val="dk2"/>
            </a:solidFill>
            <a:prstDash val="solid"/>
            <a:round/>
            <a:headEnd len="med" w="med" type="none"/>
            <a:tailEnd len="med" w="med" type="triangle"/>
          </a:ln>
        </p:spPr>
      </p:cxnSp>
      <p:pic>
        <p:nvPicPr>
          <p:cNvPr id="165" name="Google Shape;165;p19"/>
          <p:cNvPicPr preferRelativeResize="0"/>
          <p:nvPr/>
        </p:nvPicPr>
        <p:blipFill>
          <a:blip r:embed="rId5">
            <a:alphaModFix/>
          </a:blip>
          <a:stretch>
            <a:fillRect/>
          </a:stretch>
        </p:blipFill>
        <p:spPr>
          <a:xfrm>
            <a:off x="175500" y="2650661"/>
            <a:ext cx="322801" cy="322799"/>
          </a:xfrm>
          <a:prstGeom prst="rect">
            <a:avLst/>
          </a:prstGeom>
          <a:noFill/>
          <a:ln>
            <a:noFill/>
          </a:ln>
        </p:spPr>
      </p:pic>
      <p:sp>
        <p:nvSpPr>
          <p:cNvPr id="166" name="Google Shape;166;p19"/>
          <p:cNvSpPr txBox="1"/>
          <p:nvPr/>
        </p:nvSpPr>
        <p:spPr>
          <a:xfrm>
            <a:off x="510600" y="2419500"/>
            <a:ext cx="1031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dk1"/>
                </a:solidFill>
                <a:latin typeface="Times"/>
                <a:ea typeface="Times"/>
                <a:cs typeface="Times"/>
                <a:sym typeface="Times"/>
              </a:rPr>
              <a:t>prompt engineering guide</a:t>
            </a:r>
            <a:endParaRPr b="1" sz="1300">
              <a:solidFill>
                <a:schemeClr val="dk1"/>
              </a:solidFill>
              <a:latin typeface="Times"/>
              <a:ea typeface="Times"/>
              <a:cs typeface="Times"/>
              <a:sym typeface="Times"/>
            </a:endParaRPr>
          </a:p>
        </p:txBody>
      </p:sp>
      <p:cxnSp>
        <p:nvCxnSpPr>
          <p:cNvPr id="167" name="Google Shape;167;p19"/>
          <p:cNvCxnSpPr/>
          <p:nvPr/>
        </p:nvCxnSpPr>
        <p:spPr>
          <a:xfrm flipH="1" rot="10800000">
            <a:off x="1508850" y="2451038"/>
            <a:ext cx="359100" cy="408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cxnSp>
        <p:nvCxnSpPr>
          <p:cNvPr id="173" name="Google Shape;173;p20"/>
          <p:cNvCxnSpPr/>
          <p:nvPr/>
        </p:nvCxnSpPr>
        <p:spPr>
          <a:xfrm>
            <a:off x="1883550" y="3548475"/>
            <a:ext cx="5486400" cy="0"/>
          </a:xfrm>
          <a:prstGeom prst="straightConnector1">
            <a:avLst/>
          </a:prstGeom>
          <a:noFill/>
          <a:ln cap="flat" cmpd="sng" w="9525">
            <a:solidFill>
              <a:srgbClr val="FFFFFF"/>
            </a:solidFill>
            <a:prstDash val="solid"/>
            <a:round/>
            <a:headEnd len="med" w="med" type="none"/>
            <a:tailEnd len="med" w="med" type="none"/>
          </a:ln>
        </p:spPr>
      </p:cxnSp>
      <p:sp>
        <p:nvSpPr>
          <p:cNvPr id="174" name="Google Shape;174;p20"/>
          <p:cNvSpPr txBox="1"/>
          <p:nvPr/>
        </p:nvSpPr>
        <p:spPr>
          <a:xfrm>
            <a:off x="175500" y="253750"/>
            <a:ext cx="3405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Multiagent Overview</a:t>
            </a:r>
            <a:endParaRPr b="1" sz="2300">
              <a:solidFill>
                <a:schemeClr val="dk1"/>
              </a:solidFill>
              <a:latin typeface="Times"/>
              <a:ea typeface="Times"/>
              <a:cs typeface="Times"/>
              <a:sym typeface="Times"/>
            </a:endParaRPr>
          </a:p>
        </p:txBody>
      </p:sp>
      <p:graphicFrame>
        <p:nvGraphicFramePr>
          <p:cNvPr id="175" name="Google Shape;175;p20"/>
          <p:cNvGraphicFramePr/>
          <p:nvPr/>
        </p:nvGraphicFramePr>
        <p:xfrm>
          <a:off x="293968" y="766024"/>
          <a:ext cx="3000000" cy="3000000"/>
        </p:xfrm>
        <a:graphic>
          <a:graphicData uri="http://schemas.openxmlformats.org/drawingml/2006/table">
            <a:tbl>
              <a:tblPr>
                <a:noFill/>
                <a:tableStyleId>{DC4EB67F-FD1A-4A85-807B-C8CDE5A2BA3A}</a:tableStyleId>
              </a:tblPr>
              <a:tblGrid>
                <a:gridCol w="1344550"/>
                <a:gridCol w="2346100"/>
                <a:gridCol w="2438950"/>
                <a:gridCol w="2571500"/>
              </a:tblGrid>
              <a:tr h="337800">
                <a:tc>
                  <a:txBody>
                    <a:bodyPr/>
                    <a:lstStyle/>
                    <a:p>
                      <a:pPr indent="0" lvl="0" marL="0" rtl="0" algn="ctr">
                        <a:lnSpc>
                          <a:spcPct val="115000"/>
                        </a:lnSpc>
                        <a:spcBef>
                          <a:spcPts val="0"/>
                        </a:spcBef>
                        <a:spcAft>
                          <a:spcPts val="0"/>
                        </a:spcAft>
                        <a:buNone/>
                      </a:pPr>
                      <a:r>
                        <a:rPr b="1" lang="en-US">
                          <a:latin typeface="Times"/>
                          <a:ea typeface="Times"/>
                          <a:cs typeface="Times"/>
                          <a:sym typeface="Times"/>
                        </a:rPr>
                        <a:t>Agent </a:t>
                      </a:r>
                      <a:endParaRPr b="1">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a:ea typeface="Times"/>
                          <a:cs typeface="Times"/>
                          <a:sym typeface="Times"/>
                        </a:rPr>
                        <a:t>Purpose</a:t>
                      </a:r>
                      <a:endParaRPr b="1">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a:ea typeface="Times"/>
                          <a:cs typeface="Times"/>
                          <a:sym typeface="Times"/>
                        </a:rPr>
                        <a:t>Input</a:t>
                      </a:r>
                      <a:endParaRPr b="1">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a:ea typeface="Times"/>
                          <a:cs typeface="Times"/>
                          <a:sym typeface="Times"/>
                        </a:rPr>
                        <a:t>Output / Action</a:t>
                      </a:r>
                      <a:endParaRPr b="1">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r>
              <a:tr h="687325">
                <a:tc>
                  <a:txBody>
                    <a:bodyPr/>
                    <a:lstStyle/>
                    <a:p>
                      <a:pPr indent="0" lvl="0" marL="0" rtl="0" algn="ctr">
                        <a:spcBef>
                          <a:spcPts val="0"/>
                        </a:spcBef>
                        <a:spcAft>
                          <a:spcPts val="0"/>
                        </a:spcAft>
                        <a:buNone/>
                      </a:pPr>
                      <a:r>
                        <a:rPr b="1" lang="en-US" sz="1200">
                          <a:latin typeface="Times"/>
                          <a:ea typeface="Times"/>
                          <a:cs typeface="Times"/>
                          <a:sym typeface="Times"/>
                        </a:rPr>
                        <a:t>Navigator Agent</a:t>
                      </a:r>
                      <a:endParaRPr b="1" sz="1200">
                        <a:latin typeface="Times"/>
                        <a:ea typeface="Times"/>
                        <a:cs typeface="Times"/>
                        <a:sym typeface="Times"/>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US" sz="1200">
                          <a:latin typeface="Times"/>
                          <a:ea typeface="Times"/>
                          <a:cs typeface="Times"/>
                          <a:sym typeface="Times"/>
                        </a:rPr>
                        <a:t>Generates personalized learning prompts based on user profile and knowledge base.</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US" sz="1200">
                          <a:latin typeface="Times"/>
                          <a:ea typeface="Times"/>
                          <a:cs typeface="Times"/>
                          <a:sym typeface="Times"/>
                        </a:rPr>
                        <a:t>- Use cases (in vector DB)</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User information (in PostgreSQL)</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Past conversation history</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US" sz="1200">
                          <a:latin typeface="Times"/>
                          <a:ea typeface="Times"/>
                          <a:cs typeface="Times"/>
                          <a:sym typeface="Times"/>
                        </a:rPr>
                        <a:t>Provides </a:t>
                      </a:r>
                      <a:r>
                        <a:rPr b="1" lang="en-US" sz="1200">
                          <a:latin typeface="Times"/>
                          <a:ea typeface="Times"/>
                          <a:cs typeface="Times"/>
                          <a:sym typeface="Times"/>
                        </a:rPr>
                        <a:t>3 + 5</a:t>
                      </a:r>
                      <a:r>
                        <a:rPr b="1" lang="en-US" sz="1200">
                          <a:latin typeface="Times"/>
                          <a:ea typeface="Times"/>
                          <a:cs typeface="Times"/>
                          <a:sym typeface="Times"/>
                        </a:rPr>
                        <a:t> customized prompts</a:t>
                      </a:r>
                      <a:r>
                        <a:rPr lang="en-US" sz="1200">
                          <a:latin typeface="Times"/>
                          <a:ea typeface="Times"/>
                          <a:cs typeface="Times"/>
                          <a:sym typeface="Times"/>
                        </a:rPr>
                        <a:t> for the user to choose from.</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FF2CC"/>
                    </a:solidFill>
                  </a:tcPr>
                </a:tc>
              </a:tr>
              <a:tr h="622800">
                <a:tc>
                  <a:txBody>
                    <a:bodyPr/>
                    <a:lstStyle/>
                    <a:p>
                      <a:pPr indent="0" lvl="0" marL="0" rtl="0" algn="ctr">
                        <a:spcBef>
                          <a:spcPts val="0"/>
                        </a:spcBef>
                        <a:spcAft>
                          <a:spcPts val="0"/>
                        </a:spcAft>
                        <a:buNone/>
                      </a:pPr>
                      <a:r>
                        <a:rPr b="1" lang="en-US" sz="1200">
                          <a:latin typeface="Times"/>
                          <a:ea typeface="Times"/>
                          <a:cs typeface="Times"/>
                          <a:sym typeface="Times"/>
                        </a:rPr>
                        <a:t>Trainer Agent</a:t>
                      </a:r>
                      <a:endParaRPr b="1" sz="1200">
                        <a:latin typeface="Times"/>
                        <a:ea typeface="Times"/>
                        <a:cs typeface="Times"/>
                        <a:sym typeface="Times"/>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Delivers contextual learning responses and resources based on user selection.</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 Selected prompt</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Short-term &amp; long-term memory</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User info</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US" sz="1200">
                          <a:latin typeface="Times"/>
                          <a:ea typeface="Times"/>
                          <a:cs typeface="Times"/>
                          <a:sym typeface="Times"/>
                        </a:rPr>
                        <a:t>Returns learning content (text, URLs, exercises) to the display.</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D9EAD3"/>
                    </a:solidFill>
                  </a:tcPr>
                </a:tc>
              </a:tr>
              <a:tr h="601600">
                <a:tc>
                  <a:txBody>
                    <a:bodyPr/>
                    <a:lstStyle/>
                    <a:p>
                      <a:pPr indent="0" lvl="0" marL="0" rtl="0" algn="ctr">
                        <a:spcBef>
                          <a:spcPts val="0"/>
                        </a:spcBef>
                        <a:spcAft>
                          <a:spcPts val="0"/>
                        </a:spcAft>
                        <a:buNone/>
                      </a:pPr>
                      <a:r>
                        <a:rPr b="1" lang="en-US" sz="1200">
                          <a:latin typeface="Times"/>
                          <a:ea typeface="Times"/>
                          <a:cs typeface="Times"/>
                          <a:sym typeface="Times"/>
                        </a:rPr>
                        <a:t>Summary Agent</a:t>
                      </a:r>
                      <a:endParaRPr b="1" sz="1200">
                        <a:latin typeface="Times"/>
                        <a:ea typeface="Times"/>
                        <a:cs typeface="Times"/>
                        <a:sym typeface="Times"/>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US" sz="1200">
                          <a:latin typeface="Times"/>
                          <a:ea typeface="Times"/>
                          <a:cs typeface="Times"/>
                          <a:sym typeface="Times"/>
                        </a:rPr>
                        <a:t>Summarizes each conversation and updates user memory for personalization.</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US" sz="1200">
                          <a:latin typeface="Times"/>
                          <a:ea typeface="Times"/>
                          <a:cs typeface="Times"/>
                          <a:sym typeface="Times"/>
                        </a:rPr>
                        <a:t>- Conversation logs</a:t>
                      </a:r>
                      <a:br>
                        <a:rPr lang="en-US" sz="1200">
                          <a:latin typeface="Times"/>
                          <a:ea typeface="Times"/>
                          <a:cs typeface="Times"/>
                          <a:sym typeface="Times"/>
                        </a:rPr>
                      </a:br>
                      <a:r>
                        <a:rPr lang="en-US" sz="1200">
                          <a:latin typeface="Times"/>
                          <a:ea typeface="Times"/>
                          <a:cs typeface="Times"/>
                          <a:sym typeface="Times"/>
                        </a:rPr>
                        <a:t>- User info</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US" sz="1200">
                          <a:latin typeface="Times"/>
                          <a:ea typeface="Times"/>
                          <a:cs typeface="Times"/>
                          <a:sym typeface="Times"/>
                        </a:rPr>
                        <a:t>Updates </a:t>
                      </a:r>
                      <a:r>
                        <a:rPr b="1" lang="en-US" sz="1200">
                          <a:latin typeface="Times"/>
                          <a:ea typeface="Times"/>
                          <a:cs typeface="Times"/>
                          <a:sym typeface="Times"/>
                        </a:rPr>
                        <a:t>short-term</a:t>
                      </a:r>
                      <a:r>
                        <a:rPr lang="en-US" sz="1200">
                          <a:latin typeface="Times"/>
                          <a:ea typeface="Times"/>
                          <a:cs typeface="Times"/>
                          <a:sym typeface="Times"/>
                        </a:rPr>
                        <a:t> and </a:t>
                      </a:r>
                      <a:r>
                        <a:rPr b="1" lang="en-US" sz="1200">
                          <a:latin typeface="Times"/>
                          <a:ea typeface="Times"/>
                          <a:cs typeface="Times"/>
                          <a:sym typeface="Times"/>
                        </a:rPr>
                        <a:t>long-term memory</a:t>
                      </a:r>
                      <a:r>
                        <a:rPr lang="en-US" sz="1200">
                          <a:latin typeface="Times"/>
                          <a:ea typeface="Times"/>
                          <a:cs typeface="Times"/>
                          <a:sym typeface="Times"/>
                        </a:rPr>
                        <a:t> in PostgreSQL.</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4CCCC"/>
                    </a:solidFill>
                  </a:tcPr>
                </a:tc>
              </a:tr>
              <a:tr h="697650">
                <a:tc>
                  <a:txBody>
                    <a:bodyPr/>
                    <a:lstStyle/>
                    <a:p>
                      <a:pPr indent="0" lvl="0" marL="0" rtl="0" algn="ctr">
                        <a:spcBef>
                          <a:spcPts val="0"/>
                        </a:spcBef>
                        <a:spcAft>
                          <a:spcPts val="0"/>
                        </a:spcAft>
                        <a:buNone/>
                      </a:pPr>
                      <a:r>
                        <a:rPr b="1" lang="en-US" sz="1200">
                          <a:latin typeface="Times"/>
                          <a:ea typeface="Times"/>
                          <a:cs typeface="Times"/>
                          <a:sym typeface="Times"/>
                        </a:rPr>
                        <a:t>Document Agent</a:t>
                      </a:r>
                      <a:endParaRPr b="1" sz="1200">
                        <a:latin typeface="Times"/>
                        <a:ea typeface="Times"/>
                        <a:cs typeface="Times"/>
                        <a:sym typeface="Times"/>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US" sz="1200">
                          <a:latin typeface="Times"/>
                          <a:ea typeface="Times"/>
                          <a:cs typeface="Times"/>
                          <a:sym typeface="Times"/>
                        </a:rPr>
                        <a:t>Manages document uploads, chunking, and retrieval-augmented generation (RAG) queries.</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US" sz="1200">
                          <a:latin typeface="Times"/>
                          <a:ea typeface="Times"/>
                          <a:cs typeface="Times"/>
                          <a:sym typeface="Times"/>
                        </a:rPr>
                        <a:t>- </a:t>
                      </a:r>
                      <a:r>
                        <a:rPr lang="en-US" sz="1200">
                          <a:latin typeface="Times"/>
                          <a:ea typeface="Times"/>
                          <a:cs typeface="Times"/>
                          <a:sym typeface="Times"/>
                        </a:rPr>
                        <a:t>Uploaded document metadata/content</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user ID</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US" sz="1200">
                          <a:latin typeface="Times"/>
                          <a:ea typeface="Times"/>
                          <a:cs typeface="Times"/>
                          <a:sym typeface="Times"/>
                        </a:rPr>
                        <a:t>Stores document chunks in Weaviate, updates metadata in PostgreSQL, retrieves relevant chunks for queries.</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CE5CD"/>
                    </a:solidFill>
                  </a:tcPr>
                </a:tc>
              </a:tr>
              <a:tr h="682675">
                <a:tc>
                  <a:txBody>
                    <a:bodyPr/>
                    <a:lstStyle/>
                    <a:p>
                      <a:pPr indent="0" lvl="0" marL="0" rtl="0" algn="ctr">
                        <a:spcBef>
                          <a:spcPts val="0"/>
                        </a:spcBef>
                        <a:spcAft>
                          <a:spcPts val="0"/>
                        </a:spcAft>
                        <a:buNone/>
                      </a:pPr>
                      <a:r>
                        <a:rPr b="1" lang="en-US" sz="1200">
                          <a:latin typeface="Times"/>
                          <a:ea typeface="Times"/>
                          <a:cs typeface="Times"/>
                          <a:sym typeface="Times"/>
                        </a:rPr>
                        <a:t>Assessment Agent</a:t>
                      </a:r>
                      <a:endParaRPr b="1" sz="1200">
                        <a:latin typeface="Times"/>
                        <a:ea typeface="Times"/>
                        <a:cs typeface="Times"/>
                        <a:sym typeface="Times"/>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Generates quizzes and assessments for users based on topics and modules.</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 </a:t>
                      </a:r>
                      <a:r>
                        <a:rPr lang="en-US" sz="1200">
                          <a:latin typeface="Times"/>
                          <a:ea typeface="Times"/>
                          <a:cs typeface="Times"/>
                          <a:sym typeface="Times"/>
                        </a:rPr>
                        <a:t>Topic</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module list</a:t>
                      </a:r>
                      <a:endParaRPr sz="1200">
                        <a:latin typeface="Times"/>
                        <a:ea typeface="Times"/>
                        <a:cs typeface="Times"/>
                        <a:sym typeface="Times"/>
                      </a:endParaRPr>
                    </a:p>
                    <a:p>
                      <a:pPr indent="0" lvl="0" marL="0" rtl="0" algn="l">
                        <a:spcBef>
                          <a:spcPts val="0"/>
                        </a:spcBef>
                        <a:spcAft>
                          <a:spcPts val="0"/>
                        </a:spcAft>
                        <a:buNone/>
                      </a:pPr>
                      <a:r>
                        <a:rPr lang="en-US" sz="1200">
                          <a:latin typeface="Times"/>
                          <a:ea typeface="Times"/>
                          <a:cs typeface="Times"/>
                          <a:sym typeface="Times"/>
                        </a:rPr>
                        <a:t>- user context</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US" sz="1200">
                          <a:latin typeface="Times"/>
                          <a:ea typeface="Times"/>
                          <a:cs typeface="Times"/>
                          <a:sym typeface="Times"/>
                        </a:rPr>
                        <a:t>Returns a multiple-choice quiz (questions/answers)</a:t>
                      </a:r>
                      <a:endParaRPr sz="1200">
                        <a:latin typeface="Times"/>
                        <a:ea typeface="Times"/>
                        <a:cs typeface="Times"/>
                        <a:sym typeface="Times"/>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CFE2F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457200" y="361950"/>
            <a:ext cx="8229600" cy="60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latin typeface="Times"/>
                <a:ea typeface="Times"/>
                <a:cs typeface="Times"/>
                <a:sym typeface="Times"/>
              </a:rPr>
              <a:t>Trainer Agent</a:t>
            </a:r>
            <a:endParaRPr sz="2300">
              <a:latin typeface="Times"/>
              <a:ea typeface="Times"/>
              <a:cs typeface="Times"/>
              <a:sym typeface="Times"/>
            </a:endParaRPr>
          </a:p>
          <a:p>
            <a:pPr indent="0" lvl="0" marL="0" rtl="0" algn="l">
              <a:spcBef>
                <a:spcPts val="0"/>
              </a:spcBef>
              <a:spcAft>
                <a:spcPts val="0"/>
              </a:spcAft>
              <a:buNone/>
            </a:pPr>
            <a:r>
              <a:t/>
            </a:r>
            <a:endParaRPr sz="2300">
              <a:latin typeface="Times"/>
              <a:ea typeface="Times"/>
              <a:cs typeface="Times"/>
              <a:sym typeface="Times"/>
            </a:endParaRPr>
          </a:p>
        </p:txBody>
      </p:sp>
      <p:sp>
        <p:nvSpPr>
          <p:cNvPr id="182" name="Google Shape;182;p21"/>
          <p:cNvSpPr/>
          <p:nvPr/>
        </p:nvSpPr>
        <p:spPr>
          <a:xfrm>
            <a:off x="1228654" y="139797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User Query</a:t>
            </a:r>
            <a:endParaRPr b="1">
              <a:solidFill>
                <a:srgbClr val="FFFFFF"/>
              </a:solidFill>
              <a:latin typeface="Times"/>
              <a:ea typeface="Times"/>
              <a:cs typeface="Times"/>
              <a:sym typeface="Times"/>
            </a:endParaRPr>
          </a:p>
        </p:txBody>
      </p:sp>
      <p:sp>
        <p:nvSpPr>
          <p:cNvPr id="183" name="Google Shape;183;p21"/>
          <p:cNvSpPr/>
          <p:nvPr/>
        </p:nvSpPr>
        <p:spPr>
          <a:xfrm>
            <a:off x="2981254" y="139797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Get Summaries</a:t>
            </a:r>
            <a:endParaRPr b="1">
              <a:solidFill>
                <a:srgbClr val="FFFFFF"/>
              </a:solidFill>
              <a:latin typeface="Times"/>
              <a:ea typeface="Times"/>
              <a:cs typeface="Times"/>
              <a:sym typeface="Times"/>
            </a:endParaRPr>
          </a:p>
        </p:txBody>
      </p:sp>
      <p:sp>
        <p:nvSpPr>
          <p:cNvPr id="184" name="Google Shape;184;p21"/>
          <p:cNvSpPr/>
          <p:nvPr/>
        </p:nvSpPr>
        <p:spPr>
          <a:xfrm>
            <a:off x="4733854" y="139797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RAG</a:t>
            </a:r>
            <a:endParaRPr b="1">
              <a:solidFill>
                <a:srgbClr val="FFFFFF"/>
              </a:solidFill>
              <a:latin typeface="Times"/>
              <a:ea typeface="Times"/>
              <a:cs typeface="Times"/>
              <a:sym typeface="Times"/>
            </a:endParaRPr>
          </a:p>
        </p:txBody>
      </p:sp>
      <p:sp>
        <p:nvSpPr>
          <p:cNvPr id="185" name="Google Shape;185;p21"/>
          <p:cNvSpPr/>
          <p:nvPr/>
        </p:nvSpPr>
        <p:spPr>
          <a:xfrm>
            <a:off x="6486454" y="139797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Build Prompt</a:t>
            </a:r>
            <a:endParaRPr b="1">
              <a:solidFill>
                <a:srgbClr val="FFFFFF"/>
              </a:solidFill>
              <a:latin typeface="Times"/>
              <a:ea typeface="Times"/>
              <a:cs typeface="Times"/>
              <a:sym typeface="Times"/>
            </a:endParaRPr>
          </a:p>
        </p:txBody>
      </p:sp>
      <p:sp>
        <p:nvSpPr>
          <p:cNvPr id="186" name="Google Shape;186;p21"/>
          <p:cNvSpPr/>
          <p:nvPr/>
        </p:nvSpPr>
        <p:spPr>
          <a:xfrm>
            <a:off x="1228654" y="308824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Build Prompt</a:t>
            </a:r>
            <a:endParaRPr b="1">
              <a:solidFill>
                <a:srgbClr val="FFFFFF"/>
              </a:solidFill>
              <a:latin typeface="Times"/>
              <a:ea typeface="Times"/>
              <a:cs typeface="Times"/>
              <a:sym typeface="Times"/>
            </a:endParaRPr>
          </a:p>
        </p:txBody>
      </p:sp>
      <p:sp>
        <p:nvSpPr>
          <p:cNvPr id="187" name="Google Shape;187;p21"/>
          <p:cNvSpPr/>
          <p:nvPr/>
        </p:nvSpPr>
        <p:spPr>
          <a:xfrm>
            <a:off x="2981254" y="308824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Gemini 2.5 Pro</a:t>
            </a:r>
            <a:endParaRPr b="1">
              <a:solidFill>
                <a:srgbClr val="FFFFFF"/>
              </a:solidFill>
              <a:latin typeface="Times"/>
              <a:ea typeface="Times"/>
              <a:cs typeface="Times"/>
              <a:sym typeface="Times"/>
            </a:endParaRPr>
          </a:p>
        </p:txBody>
      </p:sp>
      <p:sp>
        <p:nvSpPr>
          <p:cNvPr id="188" name="Google Shape;188;p21"/>
          <p:cNvSpPr/>
          <p:nvPr/>
        </p:nvSpPr>
        <p:spPr>
          <a:xfrm>
            <a:off x="4733854" y="308824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Save to PostgreSQL</a:t>
            </a:r>
            <a:endParaRPr b="1">
              <a:solidFill>
                <a:srgbClr val="FFFFFF"/>
              </a:solidFill>
              <a:latin typeface="Times"/>
              <a:ea typeface="Times"/>
              <a:cs typeface="Times"/>
              <a:sym typeface="Times"/>
            </a:endParaRPr>
          </a:p>
        </p:txBody>
      </p:sp>
      <p:sp>
        <p:nvSpPr>
          <p:cNvPr id="189" name="Google Shape;189;p21"/>
          <p:cNvSpPr/>
          <p:nvPr/>
        </p:nvSpPr>
        <p:spPr>
          <a:xfrm>
            <a:off x="6486454" y="3088244"/>
            <a:ext cx="1428900" cy="657300"/>
          </a:xfrm>
          <a:prstGeom prst="roundRect">
            <a:avLst>
              <a:gd fmla="val 16667" name="adj"/>
            </a:avLst>
          </a:prstGeom>
          <a:solidFill>
            <a:srgbClr val="135669"/>
          </a:solidFill>
          <a:ln cap="flat" cmpd="sng" w="9525">
            <a:solidFill>
              <a:srgbClr val="1356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a:ea typeface="Times"/>
                <a:cs typeface="Times"/>
                <a:sym typeface="Times"/>
              </a:rPr>
              <a:t>Return JSON to frontend</a:t>
            </a:r>
            <a:endParaRPr b="1">
              <a:solidFill>
                <a:srgbClr val="FFFFFF"/>
              </a:solidFill>
              <a:latin typeface="Times"/>
              <a:ea typeface="Times"/>
              <a:cs typeface="Times"/>
              <a:sym typeface="Times"/>
            </a:endParaRPr>
          </a:p>
        </p:txBody>
      </p:sp>
      <p:cxnSp>
        <p:nvCxnSpPr>
          <p:cNvPr id="190" name="Google Shape;190;p21"/>
          <p:cNvCxnSpPr>
            <a:endCxn id="183" idx="1"/>
          </p:cNvCxnSpPr>
          <p:nvPr/>
        </p:nvCxnSpPr>
        <p:spPr>
          <a:xfrm flipH="1" rot="10800000">
            <a:off x="2657554" y="1726624"/>
            <a:ext cx="323700" cy="9600"/>
          </a:xfrm>
          <a:prstGeom prst="curvedConnector3">
            <a:avLst>
              <a:gd fmla="val 50000" name="adj1"/>
            </a:avLst>
          </a:prstGeom>
          <a:noFill/>
          <a:ln cap="flat" cmpd="sng" w="28575">
            <a:solidFill>
              <a:srgbClr val="135669"/>
            </a:solidFill>
            <a:prstDash val="solid"/>
            <a:round/>
            <a:headEnd len="med" w="med" type="none"/>
            <a:tailEnd len="med" w="med" type="triangle"/>
          </a:ln>
        </p:spPr>
      </p:cxnSp>
      <p:cxnSp>
        <p:nvCxnSpPr>
          <p:cNvPr id="191" name="Google Shape;191;p21"/>
          <p:cNvCxnSpPr/>
          <p:nvPr/>
        </p:nvCxnSpPr>
        <p:spPr>
          <a:xfrm flipH="1" rot="10800000">
            <a:off x="4410154" y="1726636"/>
            <a:ext cx="323700" cy="9600"/>
          </a:xfrm>
          <a:prstGeom prst="curvedConnector3">
            <a:avLst>
              <a:gd fmla="val 50000" name="adj1"/>
            </a:avLst>
          </a:prstGeom>
          <a:noFill/>
          <a:ln cap="flat" cmpd="sng" w="28575">
            <a:solidFill>
              <a:srgbClr val="135669"/>
            </a:solidFill>
            <a:prstDash val="solid"/>
            <a:round/>
            <a:headEnd len="med" w="med" type="none"/>
            <a:tailEnd len="med" w="med" type="triangle"/>
          </a:ln>
        </p:spPr>
      </p:cxnSp>
      <p:cxnSp>
        <p:nvCxnSpPr>
          <p:cNvPr id="192" name="Google Shape;192;p21"/>
          <p:cNvCxnSpPr>
            <a:stCxn id="187" idx="1"/>
            <a:endCxn id="186" idx="3"/>
          </p:cNvCxnSpPr>
          <p:nvPr/>
        </p:nvCxnSpPr>
        <p:spPr>
          <a:xfrm flipH="1">
            <a:off x="2657554" y="3416894"/>
            <a:ext cx="323700" cy="600"/>
          </a:xfrm>
          <a:prstGeom prst="curvedConnector3">
            <a:avLst>
              <a:gd fmla="val 50000" name="adj1"/>
            </a:avLst>
          </a:prstGeom>
          <a:noFill/>
          <a:ln cap="flat" cmpd="sng" w="28575">
            <a:solidFill>
              <a:srgbClr val="135669"/>
            </a:solidFill>
            <a:prstDash val="solid"/>
            <a:round/>
            <a:headEnd len="med" w="med" type="none"/>
            <a:tailEnd len="med" w="med" type="triangle"/>
          </a:ln>
        </p:spPr>
      </p:cxnSp>
      <p:cxnSp>
        <p:nvCxnSpPr>
          <p:cNvPr id="193" name="Google Shape;193;p21"/>
          <p:cNvCxnSpPr>
            <a:stCxn id="188" idx="1"/>
            <a:endCxn id="187" idx="3"/>
          </p:cNvCxnSpPr>
          <p:nvPr/>
        </p:nvCxnSpPr>
        <p:spPr>
          <a:xfrm flipH="1">
            <a:off x="4410154" y="3416894"/>
            <a:ext cx="323700" cy="600"/>
          </a:xfrm>
          <a:prstGeom prst="curvedConnector3">
            <a:avLst>
              <a:gd fmla="val 50000" name="adj1"/>
            </a:avLst>
          </a:prstGeom>
          <a:noFill/>
          <a:ln cap="flat" cmpd="sng" w="28575">
            <a:solidFill>
              <a:srgbClr val="135669"/>
            </a:solidFill>
            <a:prstDash val="solid"/>
            <a:round/>
            <a:headEnd len="med" w="med" type="none"/>
            <a:tailEnd len="med" w="med" type="triangle"/>
          </a:ln>
        </p:spPr>
      </p:cxnSp>
      <p:cxnSp>
        <p:nvCxnSpPr>
          <p:cNvPr id="194" name="Google Shape;194;p21"/>
          <p:cNvCxnSpPr>
            <a:stCxn id="189" idx="1"/>
            <a:endCxn id="188" idx="3"/>
          </p:cNvCxnSpPr>
          <p:nvPr/>
        </p:nvCxnSpPr>
        <p:spPr>
          <a:xfrm flipH="1">
            <a:off x="6162754" y="3416894"/>
            <a:ext cx="323700" cy="600"/>
          </a:xfrm>
          <a:prstGeom prst="curvedConnector3">
            <a:avLst>
              <a:gd fmla="val 50000" name="adj1"/>
            </a:avLst>
          </a:prstGeom>
          <a:noFill/>
          <a:ln cap="flat" cmpd="sng" w="28575">
            <a:solidFill>
              <a:srgbClr val="135669"/>
            </a:solidFill>
            <a:prstDash val="solid"/>
            <a:round/>
            <a:headEnd len="med" w="med" type="none"/>
            <a:tailEnd len="med" w="med" type="triangle"/>
          </a:ln>
        </p:spPr>
      </p:cxnSp>
      <p:cxnSp>
        <p:nvCxnSpPr>
          <p:cNvPr id="195" name="Google Shape;195;p21"/>
          <p:cNvCxnSpPr>
            <a:stCxn id="185" idx="2"/>
            <a:endCxn id="189" idx="0"/>
          </p:cNvCxnSpPr>
          <p:nvPr/>
        </p:nvCxnSpPr>
        <p:spPr>
          <a:xfrm flipH="1" rot="-5400000">
            <a:off x="6684754" y="2571424"/>
            <a:ext cx="1032900" cy="600"/>
          </a:xfrm>
          <a:prstGeom prst="curvedConnector3">
            <a:avLst>
              <a:gd fmla="val 50003" name="adj1"/>
            </a:avLst>
          </a:prstGeom>
          <a:noFill/>
          <a:ln cap="flat" cmpd="sng" w="28575">
            <a:solidFill>
              <a:srgbClr val="135669"/>
            </a:solidFill>
            <a:prstDash val="solid"/>
            <a:round/>
            <a:headEnd len="med" w="med" type="none"/>
            <a:tailEnd len="med" w="med" type="triangle"/>
          </a:ln>
        </p:spPr>
      </p:cxnSp>
      <p:cxnSp>
        <p:nvCxnSpPr>
          <p:cNvPr id="196" name="Google Shape;196;p21"/>
          <p:cNvCxnSpPr/>
          <p:nvPr/>
        </p:nvCxnSpPr>
        <p:spPr>
          <a:xfrm flipH="1" rot="10800000">
            <a:off x="6162754" y="1726636"/>
            <a:ext cx="323700" cy="9600"/>
          </a:xfrm>
          <a:prstGeom prst="curvedConnector3">
            <a:avLst>
              <a:gd fmla="val 50000" name="adj1"/>
            </a:avLst>
          </a:prstGeom>
          <a:noFill/>
          <a:ln cap="flat" cmpd="sng" w="28575">
            <a:solidFill>
              <a:srgbClr val="135669"/>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nvSpPr>
        <p:spPr>
          <a:xfrm>
            <a:off x="248850" y="199225"/>
            <a:ext cx="7639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Our Demo Today Follows the User Journey</a:t>
            </a:r>
            <a:endParaRPr b="1" sz="2300">
              <a:solidFill>
                <a:schemeClr val="dk1"/>
              </a:solidFill>
              <a:latin typeface="Times"/>
              <a:ea typeface="Times"/>
              <a:cs typeface="Times"/>
              <a:sym typeface="Times"/>
            </a:endParaRPr>
          </a:p>
        </p:txBody>
      </p:sp>
      <p:sp>
        <p:nvSpPr>
          <p:cNvPr id="203" name="Google Shape;203;p22"/>
          <p:cNvSpPr txBox="1"/>
          <p:nvPr/>
        </p:nvSpPr>
        <p:spPr>
          <a:xfrm>
            <a:off x="346375" y="995800"/>
            <a:ext cx="8009700" cy="109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sz="1600">
                <a:solidFill>
                  <a:schemeClr val="dk1"/>
                </a:solidFill>
                <a:latin typeface="Times"/>
                <a:ea typeface="Times"/>
                <a:cs typeface="Times"/>
                <a:sym typeface="Times"/>
              </a:rPr>
              <a:t>We demo with a </a:t>
            </a:r>
            <a:r>
              <a:rPr b="1" lang="en-US" sz="1600">
                <a:solidFill>
                  <a:schemeClr val="dk1"/>
                </a:solidFill>
                <a:latin typeface="Times"/>
                <a:ea typeface="Times"/>
                <a:cs typeface="Times"/>
                <a:sym typeface="Times"/>
              </a:rPr>
              <a:t>Sales</a:t>
            </a:r>
            <a:r>
              <a:rPr b="1" lang="en-US" sz="1600">
                <a:solidFill>
                  <a:schemeClr val="dk1"/>
                </a:solidFill>
                <a:latin typeface="Times"/>
                <a:ea typeface="Times"/>
                <a:cs typeface="Times"/>
                <a:sym typeface="Times"/>
              </a:rPr>
              <a:t> persona</a:t>
            </a:r>
            <a:r>
              <a:rPr lang="en-US" sz="1600">
                <a:solidFill>
                  <a:schemeClr val="dk1"/>
                </a:solidFill>
                <a:latin typeface="Times"/>
                <a:ea typeface="Times"/>
                <a:cs typeface="Times"/>
                <a:sym typeface="Times"/>
              </a:rPr>
              <a:t>, while highlighting:</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How </a:t>
            </a:r>
            <a:r>
              <a:rPr b="1" lang="en-US" sz="1600">
                <a:solidFill>
                  <a:schemeClr val="dk1"/>
                </a:solidFill>
                <a:latin typeface="Times"/>
                <a:ea typeface="Times"/>
                <a:cs typeface="Times"/>
                <a:sym typeface="Times"/>
              </a:rPr>
              <a:t>Sales reps</a:t>
            </a:r>
            <a:r>
              <a:rPr lang="en-US" sz="1600">
                <a:solidFill>
                  <a:schemeClr val="dk1"/>
                </a:solidFill>
                <a:latin typeface="Times"/>
                <a:ea typeface="Times"/>
                <a:cs typeface="Times"/>
                <a:sym typeface="Times"/>
              </a:rPr>
              <a:t> use PromptPal for email optimization, meeting prep, product explanations</a:t>
            </a:r>
            <a:br>
              <a:rPr lang="en-US" sz="1600">
                <a:solidFill>
                  <a:schemeClr val="dk1"/>
                </a:solidFill>
                <a:latin typeface="Times"/>
                <a:ea typeface="Times"/>
                <a:cs typeface="Times"/>
                <a:sym typeface="Times"/>
              </a:rPr>
            </a:br>
            <a:r>
              <a:rPr lang="en-US" sz="1600">
                <a:solidFill>
                  <a:schemeClr val="dk1"/>
                </a:solidFill>
                <a:latin typeface="Times"/>
                <a:ea typeface="Times"/>
                <a:cs typeface="Times"/>
                <a:sym typeface="Times"/>
              </a:rPr>
              <a:t> • How </a:t>
            </a:r>
            <a:r>
              <a:rPr b="1" lang="en-US" sz="1600">
                <a:solidFill>
                  <a:schemeClr val="dk1"/>
                </a:solidFill>
                <a:latin typeface="Times"/>
                <a:ea typeface="Times"/>
                <a:cs typeface="Times"/>
                <a:sym typeface="Times"/>
              </a:rPr>
              <a:t>Sales managers</a:t>
            </a:r>
            <a:r>
              <a:rPr lang="en-US" sz="1600">
                <a:solidFill>
                  <a:schemeClr val="dk1"/>
                </a:solidFill>
                <a:latin typeface="Times"/>
                <a:ea typeface="Times"/>
                <a:cs typeface="Times"/>
                <a:sym typeface="Times"/>
              </a:rPr>
              <a:t> track team proficiency and assign modules</a:t>
            </a:r>
            <a:endParaRPr b="1" sz="1600">
              <a:solidFill>
                <a:schemeClr val="dk1"/>
              </a:solidFill>
              <a:latin typeface="Times"/>
              <a:ea typeface="Times"/>
              <a:cs typeface="Times"/>
              <a:sym typeface="Times"/>
            </a:endParaRPr>
          </a:p>
        </p:txBody>
      </p:sp>
      <p:pic>
        <p:nvPicPr>
          <p:cNvPr id="204" name="Google Shape;204;p22"/>
          <p:cNvPicPr preferRelativeResize="0"/>
          <p:nvPr/>
        </p:nvPicPr>
        <p:blipFill>
          <a:blip r:embed="rId3">
            <a:alphaModFix/>
          </a:blip>
          <a:stretch>
            <a:fillRect/>
          </a:stretch>
        </p:blipFill>
        <p:spPr>
          <a:xfrm>
            <a:off x="513925" y="2677975"/>
            <a:ext cx="523200" cy="523200"/>
          </a:xfrm>
          <a:prstGeom prst="rect">
            <a:avLst/>
          </a:prstGeom>
          <a:noFill/>
          <a:ln>
            <a:noFill/>
          </a:ln>
        </p:spPr>
      </p:pic>
      <p:sp>
        <p:nvSpPr>
          <p:cNvPr id="205" name="Google Shape;205;p22"/>
          <p:cNvSpPr txBox="1"/>
          <p:nvPr/>
        </p:nvSpPr>
        <p:spPr>
          <a:xfrm>
            <a:off x="346375" y="3174000"/>
            <a:ext cx="85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900">
                <a:solidFill>
                  <a:schemeClr val="dk1"/>
                </a:solidFill>
                <a:latin typeface="Open Sans"/>
                <a:ea typeface="Open Sans"/>
                <a:cs typeface="Open Sans"/>
                <a:sym typeface="Open Sans"/>
              </a:rPr>
              <a:t>User: Sales</a:t>
            </a:r>
            <a:endParaRPr b="1" sz="900">
              <a:solidFill>
                <a:schemeClr val="dk1"/>
              </a:solidFill>
              <a:latin typeface="Open Sans"/>
              <a:ea typeface="Open Sans"/>
              <a:cs typeface="Open Sans"/>
              <a:sym typeface="Open Sans"/>
            </a:endParaRPr>
          </a:p>
        </p:txBody>
      </p:sp>
      <p:cxnSp>
        <p:nvCxnSpPr>
          <p:cNvPr id="206" name="Google Shape;206;p22"/>
          <p:cNvCxnSpPr>
            <a:endCxn id="207" idx="1"/>
          </p:cNvCxnSpPr>
          <p:nvPr/>
        </p:nvCxnSpPr>
        <p:spPr>
          <a:xfrm>
            <a:off x="2654012" y="3070675"/>
            <a:ext cx="1000800" cy="0"/>
          </a:xfrm>
          <a:prstGeom prst="straightConnector1">
            <a:avLst/>
          </a:prstGeom>
          <a:noFill/>
          <a:ln cap="flat" cmpd="sng" w="9525">
            <a:solidFill>
              <a:srgbClr val="595959"/>
            </a:solidFill>
            <a:prstDash val="solid"/>
            <a:round/>
            <a:headEnd len="med" w="med" type="none"/>
            <a:tailEnd len="med" w="med" type="triangle"/>
          </a:ln>
        </p:spPr>
      </p:cxnSp>
      <p:sp>
        <p:nvSpPr>
          <p:cNvPr id="207" name="Google Shape;207;p22"/>
          <p:cNvSpPr/>
          <p:nvPr/>
        </p:nvSpPr>
        <p:spPr>
          <a:xfrm>
            <a:off x="3654812" y="2677975"/>
            <a:ext cx="1412100" cy="7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latin typeface="Times"/>
                <a:ea typeface="Times"/>
                <a:cs typeface="Times"/>
                <a:sym typeface="Times"/>
              </a:rPr>
              <a:t>user click </a:t>
            </a:r>
            <a:br>
              <a:rPr lang="en-US" sz="1500">
                <a:latin typeface="Times"/>
                <a:ea typeface="Times"/>
                <a:cs typeface="Times"/>
                <a:sym typeface="Times"/>
              </a:rPr>
            </a:br>
            <a:r>
              <a:rPr lang="en-US" sz="1500">
                <a:latin typeface="Times"/>
                <a:ea typeface="Times"/>
                <a:cs typeface="Times"/>
                <a:sym typeface="Times"/>
              </a:rPr>
              <a:t>OR </a:t>
            </a:r>
            <a:br>
              <a:rPr lang="en-US" sz="1500">
                <a:latin typeface="Times"/>
                <a:ea typeface="Times"/>
                <a:cs typeface="Times"/>
                <a:sym typeface="Times"/>
              </a:rPr>
            </a:br>
            <a:r>
              <a:rPr lang="en-US" sz="1500">
                <a:latin typeface="Times"/>
                <a:ea typeface="Times"/>
                <a:cs typeface="Times"/>
                <a:sym typeface="Times"/>
              </a:rPr>
              <a:t>write prompt</a:t>
            </a:r>
            <a:endParaRPr sz="1500">
              <a:latin typeface="Times"/>
              <a:ea typeface="Times"/>
              <a:cs typeface="Times"/>
              <a:sym typeface="Times"/>
            </a:endParaRPr>
          </a:p>
        </p:txBody>
      </p:sp>
      <p:cxnSp>
        <p:nvCxnSpPr>
          <p:cNvPr id="208" name="Google Shape;208;p22"/>
          <p:cNvCxnSpPr>
            <a:stCxn id="207" idx="3"/>
            <a:endCxn id="209" idx="1"/>
          </p:cNvCxnSpPr>
          <p:nvPr/>
        </p:nvCxnSpPr>
        <p:spPr>
          <a:xfrm>
            <a:off x="5066912" y="3070675"/>
            <a:ext cx="773400" cy="0"/>
          </a:xfrm>
          <a:prstGeom prst="straightConnector1">
            <a:avLst/>
          </a:prstGeom>
          <a:noFill/>
          <a:ln cap="flat" cmpd="sng" w="9525">
            <a:solidFill>
              <a:srgbClr val="595959"/>
            </a:solidFill>
            <a:prstDash val="solid"/>
            <a:round/>
            <a:headEnd len="med" w="med" type="none"/>
            <a:tailEnd len="med" w="med" type="triangle"/>
          </a:ln>
        </p:spPr>
      </p:cxnSp>
      <p:sp>
        <p:nvSpPr>
          <p:cNvPr id="209" name="Google Shape;209;p22"/>
          <p:cNvSpPr/>
          <p:nvPr/>
        </p:nvSpPr>
        <p:spPr>
          <a:xfrm>
            <a:off x="5840399" y="2677975"/>
            <a:ext cx="942000" cy="7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latin typeface="Times"/>
                <a:ea typeface="Times"/>
                <a:cs typeface="Times"/>
                <a:sym typeface="Times"/>
              </a:rPr>
              <a:t>lesson generated</a:t>
            </a:r>
            <a:endParaRPr sz="1500">
              <a:latin typeface="Times"/>
              <a:ea typeface="Times"/>
              <a:cs typeface="Times"/>
              <a:sym typeface="Times"/>
            </a:endParaRPr>
          </a:p>
        </p:txBody>
      </p:sp>
      <p:sp>
        <p:nvSpPr>
          <p:cNvPr id="210" name="Google Shape;210;p22"/>
          <p:cNvSpPr/>
          <p:nvPr/>
        </p:nvSpPr>
        <p:spPr>
          <a:xfrm rot="10800000">
            <a:off x="4176101" y="3545025"/>
            <a:ext cx="2221200" cy="7044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cxnSp>
        <p:nvCxnSpPr>
          <p:cNvPr id="211" name="Google Shape;211;p22"/>
          <p:cNvCxnSpPr>
            <a:stCxn id="209" idx="3"/>
            <a:endCxn id="212" idx="1"/>
          </p:cNvCxnSpPr>
          <p:nvPr/>
        </p:nvCxnSpPr>
        <p:spPr>
          <a:xfrm>
            <a:off x="6782399" y="3070675"/>
            <a:ext cx="924000" cy="0"/>
          </a:xfrm>
          <a:prstGeom prst="straightConnector1">
            <a:avLst/>
          </a:prstGeom>
          <a:noFill/>
          <a:ln cap="flat" cmpd="sng" w="9525">
            <a:solidFill>
              <a:srgbClr val="595959"/>
            </a:solidFill>
            <a:prstDash val="solid"/>
            <a:round/>
            <a:headEnd len="med" w="med" type="none"/>
            <a:tailEnd len="med" w="med" type="triangle"/>
          </a:ln>
        </p:spPr>
      </p:cxnSp>
      <p:sp>
        <p:nvSpPr>
          <p:cNvPr id="212" name="Google Shape;212;p22"/>
          <p:cNvSpPr/>
          <p:nvPr/>
        </p:nvSpPr>
        <p:spPr>
          <a:xfrm>
            <a:off x="7706484" y="2677975"/>
            <a:ext cx="864900" cy="7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latin typeface="Times"/>
                <a:ea typeface="Times"/>
                <a:cs typeface="Times"/>
                <a:sym typeface="Times"/>
              </a:rPr>
              <a:t>take learning quiz</a:t>
            </a:r>
            <a:endParaRPr sz="1500">
              <a:latin typeface="Times"/>
              <a:ea typeface="Times"/>
              <a:cs typeface="Times"/>
              <a:sym typeface="Times"/>
            </a:endParaRPr>
          </a:p>
        </p:txBody>
      </p:sp>
      <p:cxnSp>
        <p:nvCxnSpPr>
          <p:cNvPr id="213" name="Google Shape;213;p22"/>
          <p:cNvCxnSpPr>
            <a:endCxn id="214" idx="1"/>
          </p:cNvCxnSpPr>
          <p:nvPr/>
        </p:nvCxnSpPr>
        <p:spPr>
          <a:xfrm>
            <a:off x="1102302" y="3070675"/>
            <a:ext cx="1000800" cy="0"/>
          </a:xfrm>
          <a:prstGeom prst="straightConnector1">
            <a:avLst/>
          </a:prstGeom>
          <a:noFill/>
          <a:ln cap="flat" cmpd="sng" w="9525">
            <a:solidFill>
              <a:srgbClr val="595959"/>
            </a:solidFill>
            <a:prstDash val="solid"/>
            <a:round/>
            <a:headEnd len="med" w="med" type="none"/>
            <a:tailEnd len="med" w="med" type="triangle"/>
          </a:ln>
        </p:spPr>
      </p:cxnSp>
      <p:sp>
        <p:nvSpPr>
          <p:cNvPr id="214" name="Google Shape;214;p22"/>
          <p:cNvSpPr/>
          <p:nvPr/>
        </p:nvSpPr>
        <p:spPr>
          <a:xfrm>
            <a:off x="2103102" y="2677975"/>
            <a:ext cx="864900" cy="7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latin typeface="Times"/>
                <a:ea typeface="Times"/>
                <a:cs typeface="Times"/>
                <a:sym typeface="Times"/>
              </a:rPr>
              <a:t>user login</a:t>
            </a:r>
            <a:endParaRPr sz="1500">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cxnSp>
        <p:nvCxnSpPr>
          <p:cNvPr id="220" name="Google Shape;220;p23"/>
          <p:cNvCxnSpPr/>
          <p:nvPr/>
        </p:nvCxnSpPr>
        <p:spPr>
          <a:xfrm>
            <a:off x="2209800" y="3486150"/>
            <a:ext cx="5486400" cy="0"/>
          </a:xfrm>
          <a:prstGeom prst="straightConnector1">
            <a:avLst/>
          </a:prstGeom>
          <a:noFill/>
          <a:ln cap="flat" cmpd="sng" w="9525">
            <a:solidFill>
              <a:srgbClr val="FFFFFF"/>
            </a:solidFill>
            <a:prstDash val="solid"/>
            <a:round/>
            <a:headEnd len="med" w="med" type="none"/>
            <a:tailEnd len="med" w="med" type="none"/>
          </a:ln>
        </p:spPr>
      </p:cxnSp>
      <p:sp>
        <p:nvSpPr>
          <p:cNvPr id="221" name="Google Shape;221;p23"/>
          <p:cNvSpPr txBox="1"/>
          <p:nvPr/>
        </p:nvSpPr>
        <p:spPr>
          <a:xfrm>
            <a:off x="3889050" y="329500"/>
            <a:ext cx="1365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latin typeface="Times"/>
                <a:ea typeface="Times"/>
                <a:cs typeface="Times"/>
                <a:sym typeface="Times"/>
              </a:rPr>
              <a:t>DEMO</a:t>
            </a:r>
            <a:endParaRPr b="1" sz="2800">
              <a:solidFill>
                <a:schemeClr val="dk1"/>
              </a:solidFill>
              <a:latin typeface="Times"/>
              <a:ea typeface="Times"/>
              <a:cs typeface="Times"/>
              <a:sym typeface="Times"/>
            </a:endParaRPr>
          </a:p>
        </p:txBody>
      </p:sp>
      <p:pic>
        <p:nvPicPr>
          <p:cNvPr id="222" name="Google Shape;222;p23" title="final-video-v3.mp4">
            <a:hlinkClick r:id="rId3"/>
          </p:cNvPr>
          <p:cNvPicPr preferRelativeResize="0"/>
          <p:nvPr/>
        </p:nvPicPr>
        <p:blipFill>
          <a:blip r:embed="rId4">
            <a:alphaModFix/>
          </a:blip>
          <a:stretch>
            <a:fillRect/>
          </a:stretch>
        </p:blipFill>
        <p:spPr>
          <a:xfrm>
            <a:off x="1360850" y="945100"/>
            <a:ext cx="6422299" cy="3612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cxnSp>
        <p:nvCxnSpPr>
          <p:cNvPr id="228" name="Google Shape;228;p24"/>
          <p:cNvCxnSpPr/>
          <p:nvPr/>
        </p:nvCxnSpPr>
        <p:spPr>
          <a:xfrm>
            <a:off x="1368028" y="3486150"/>
            <a:ext cx="5486400" cy="0"/>
          </a:xfrm>
          <a:prstGeom prst="straightConnector1">
            <a:avLst/>
          </a:prstGeom>
          <a:noFill/>
          <a:ln cap="flat" cmpd="sng" w="9525">
            <a:solidFill>
              <a:srgbClr val="FFFFFF"/>
            </a:solidFill>
            <a:prstDash val="solid"/>
            <a:round/>
            <a:headEnd len="med" w="med" type="none"/>
            <a:tailEnd len="med" w="med" type="none"/>
          </a:ln>
        </p:spPr>
      </p:cxnSp>
      <p:sp>
        <p:nvSpPr>
          <p:cNvPr id="229" name="Google Shape;229;p24"/>
          <p:cNvSpPr txBox="1"/>
          <p:nvPr/>
        </p:nvSpPr>
        <p:spPr>
          <a:xfrm>
            <a:off x="248850" y="199225"/>
            <a:ext cx="300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Recommendation</a:t>
            </a:r>
            <a:endParaRPr b="1" sz="2300">
              <a:solidFill>
                <a:schemeClr val="dk1"/>
              </a:solidFill>
              <a:latin typeface="Times"/>
              <a:ea typeface="Times"/>
              <a:cs typeface="Times"/>
              <a:sym typeface="Times"/>
            </a:endParaRPr>
          </a:p>
        </p:txBody>
      </p:sp>
      <p:graphicFrame>
        <p:nvGraphicFramePr>
          <p:cNvPr id="230" name="Google Shape;230;p24"/>
          <p:cNvGraphicFramePr/>
          <p:nvPr/>
        </p:nvGraphicFramePr>
        <p:xfrm>
          <a:off x="552850" y="911388"/>
          <a:ext cx="3000000" cy="3000000"/>
        </p:xfrm>
        <a:graphic>
          <a:graphicData uri="http://schemas.openxmlformats.org/drawingml/2006/table">
            <a:tbl>
              <a:tblPr>
                <a:noFill/>
                <a:tableStyleId>{FC1B577F-C3AA-4619-838E-368C5E0619C7}</a:tableStyleId>
              </a:tblPr>
              <a:tblGrid>
                <a:gridCol w="2642575"/>
                <a:gridCol w="2664425"/>
                <a:gridCol w="2592325"/>
              </a:tblGrid>
              <a:tr h="381000">
                <a:tc>
                  <a:txBody>
                    <a:bodyPr/>
                    <a:lstStyle/>
                    <a:p>
                      <a:pPr indent="0" lvl="0" marL="0" rtl="0" algn="l">
                        <a:lnSpc>
                          <a:spcPct val="115000"/>
                        </a:lnSpc>
                        <a:spcBef>
                          <a:spcPts val="1200"/>
                        </a:spcBef>
                        <a:spcAft>
                          <a:spcPts val="1200"/>
                        </a:spcAft>
                        <a:buClr>
                          <a:schemeClr val="dk1"/>
                        </a:buClr>
                        <a:buSzPts val="1100"/>
                        <a:buFont typeface="Arial"/>
                        <a:buNone/>
                      </a:pPr>
                      <a:r>
                        <a:rPr b="1" lang="en-US" sz="1600">
                          <a:solidFill>
                            <a:schemeClr val="dk1"/>
                          </a:solidFill>
                          <a:latin typeface="Times"/>
                          <a:ea typeface="Times"/>
                          <a:cs typeface="Times"/>
                          <a:sym typeface="Times"/>
                        </a:rPr>
                        <a:t>For Staff:</a:t>
                      </a:r>
                      <a:endParaRPr sz="1600">
                        <a:latin typeface="Times"/>
                        <a:ea typeface="Times"/>
                        <a:cs typeface="Times"/>
                        <a:sym typeface="Times"/>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b="1" lang="en-US" sz="1600">
                          <a:solidFill>
                            <a:schemeClr val="dk1"/>
                          </a:solidFill>
                          <a:latin typeface="Times"/>
                          <a:ea typeface="Times"/>
                          <a:cs typeface="Times"/>
                          <a:sym typeface="Times"/>
                        </a:rPr>
                        <a:t>For Managers:</a:t>
                      </a:r>
                      <a:endParaRPr sz="1600">
                        <a:latin typeface="Times"/>
                        <a:ea typeface="Times"/>
                        <a:cs typeface="Times"/>
                        <a:sym typeface="Times"/>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b="1" lang="en-US" sz="1600">
                          <a:solidFill>
                            <a:schemeClr val="dk1"/>
                          </a:solidFill>
                          <a:latin typeface="Times"/>
                          <a:ea typeface="Times"/>
                          <a:cs typeface="Times"/>
                          <a:sym typeface="Times"/>
                        </a:rPr>
                        <a:t>For Organization:</a:t>
                      </a:r>
                      <a:endParaRPr sz="1600">
                        <a:latin typeface="Times"/>
                        <a:ea typeface="Times"/>
                        <a:cs typeface="Times"/>
                        <a:sym typeface="Times"/>
                      </a:endParaRPr>
                    </a:p>
                  </a:txBody>
                  <a:tcPr marT="91425" marB="91425" marR="91425" marL="91425"/>
                </a:tc>
              </a:tr>
              <a:tr h="381000">
                <a:tc>
                  <a:txBody>
                    <a:bodyPr/>
                    <a:lstStyle/>
                    <a:p>
                      <a:pPr indent="0" lvl="0" marL="0" rtl="0" algn="l">
                        <a:lnSpc>
                          <a:spcPct val="115000"/>
                        </a:lnSpc>
                        <a:spcBef>
                          <a:spcPts val="1200"/>
                        </a:spcBef>
                        <a:spcAft>
                          <a:spcPts val="1200"/>
                        </a:spcAft>
                        <a:buNone/>
                      </a:pPr>
                      <a:r>
                        <a:rPr lang="en-US">
                          <a:solidFill>
                            <a:schemeClr val="dk1"/>
                          </a:solidFill>
                          <a:latin typeface="Times"/>
                          <a:ea typeface="Times"/>
                          <a:cs typeface="Times"/>
                          <a:sym typeface="Times"/>
                        </a:rPr>
                        <a:t> • Complete weekly micro-quizzes (2 min)</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Use PromptPal before client meetings to:</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Create agendas</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Summarize client materials</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Generate talk tracks</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Use PromptPal to optimize emails</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Upload templates for more accurate outputs</a:t>
                      </a:r>
                      <a:endParaRPr>
                        <a:latin typeface="Times"/>
                        <a:ea typeface="Times"/>
                        <a:cs typeface="Times"/>
                        <a:sym typeface="Times"/>
                      </a:endParaRPr>
                    </a:p>
                  </a:txBody>
                  <a:tcPr marT="91425" marB="91425" marR="91425" marL="91425"/>
                </a:tc>
                <a:tc>
                  <a:txBody>
                    <a:bodyPr/>
                    <a:lstStyle/>
                    <a:p>
                      <a:pPr indent="0" lvl="0" marL="0" rtl="0" algn="l">
                        <a:lnSpc>
                          <a:spcPct val="115000"/>
                        </a:lnSpc>
                        <a:spcBef>
                          <a:spcPts val="1200"/>
                        </a:spcBef>
                        <a:spcAft>
                          <a:spcPts val="1200"/>
                        </a:spcAft>
                        <a:buNone/>
                      </a:pPr>
                      <a:r>
                        <a:rPr lang="en-US">
                          <a:solidFill>
                            <a:schemeClr val="dk1"/>
                          </a:solidFill>
                          <a:latin typeface="Times"/>
                          <a:ea typeface="Times"/>
                          <a:cs typeface="Times"/>
                          <a:sym typeface="Times"/>
                        </a:rPr>
                        <a:t> • Track team proficiency in dashboard</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Assign modules for:</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Email compliance</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Product explanation accuracy</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Prompt engineering</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Review “AI Skills Report” monthly</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Use insights during coaching sessions</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Add customized sales prompts to PromptPal library</a:t>
                      </a:r>
                      <a:endParaRPr>
                        <a:latin typeface="Times"/>
                        <a:ea typeface="Times"/>
                        <a:cs typeface="Times"/>
                        <a:sym typeface="Times"/>
                      </a:endParaRPr>
                    </a:p>
                  </a:txBody>
                  <a:tcPr marT="91425" marB="91425" marR="91425" marL="91425"/>
                </a:tc>
                <a:tc>
                  <a:txBody>
                    <a:bodyPr/>
                    <a:lstStyle/>
                    <a:p>
                      <a:pPr indent="0" lvl="0" marL="0" rtl="0" algn="l">
                        <a:lnSpc>
                          <a:spcPct val="115000"/>
                        </a:lnSpc>
                        <a:spcBef>
                          <a:spcPts val="1200"/>
                        </a:spcBef>
                        <a:spcAft>
                          <a:spcPts val="1200"/>
                        </a:spcAft>
                        <a:buNone/>
                      </a:pPr>
                      <a:r>
                        <a:rPr lang="en-US">
                          <a:solidFill>
                            <a:schemeClr val="dk1"/>
                          </a:solidFill>
                          <a:latin typeface="Times"/>
                          <a:ea typeface="Times"/>
                          <a:cs typeface="Times"/>
                          <a:sym typeface="Times"/>
                        </a:rPr>
                        <a:t> • Integrate more learning modules</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Expand to Investments / Ops / IT</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Add internal documents into RAG</a:t>
                      </a:r>
                      <a:br>
                        <a:rPr lang="en-US">
                          <a:solidFill>
                            <a:schemeClr val="dk1"/>
                          </a:solidFill>
                          <a:latin typeface="Times"/>
                          <a:ea typeface="Times"/>
                          <a:cs typeface="Times"/>
                          <a:sym typeface="Times"/>
                        </a:rPr>
                      </a:br>
                      <a:r>
                        <a:rPr lang="en-US">
                          <a:solidFill>
                            <a:schemeClr val="dk1"/>
                          </a:solidFill>
                          <a:latin typeface="Times"/>
                          <a:ea typeface="Times"/>
                          <a:cs typeface="Times"/>
                          <a:sym typeface="Times"/>
                        </a:rPr>
                        <a:t> • Pilot with 82 Athena users → scale to 2,000 employees</a:t>
                      </a:r>
                      <a:endParaRPr>
                        <a:latin typeface="Times"/>
                        <a:ea typeface="Times"/>
                        <a:cs typeface="Times"/>
                        <a:sym typeface="Times"/>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cxnSp>
        <p:nvCxnSpPr>
          <p:cNvPr id="236" name="Google Shape;236;p25"/>
          <p:cNvCxnSpPr/>
          <p:nvPr/>
        </p:nvCxnSpPr>
        <p:spPr>
          <a:xfrm>
            <a:off x="1368028" y="3486150"/>
            <a:ext cx="5486400" cy="0"/>
          </a:xfrm>
          <a:prstGeom prst="straightConnector1">
            <a:avLst/>
          </a:prstGeom>
          <a:noFill/>
          <a:ln cap="flat" cmpd="sng" w="9525">
            <a:solidFill>
              <a:srgbClr val="FFFFFF"/>
            </a:solidFill>
            <a:prstDash val="solid"/>
            <a:round/>
            <a:headEnd len="med" w="med" type="none"/>
            <a:tailEnd len="med" w="med" type="none"/>
          </a:ln>
        </p:spPr>
      </p:cxnSp>
      <p:sp>
        <p:nvSpPr>
          <p:cNvPr id="237" name="Google Shape;237;p25"/>
          <p:cNvSpPr txBox="1"/>
          <p:nvPr/>
        </p:nvSpPr>
        <p:spPr>
          <a:xfrm>
            <a:off x="248850" y="199225"/>
            <a:ext cx="3007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Times"/>
                <a:ea typeface="Times"/>
                <a:cs typeface="Times"/>
                <a:sym typeface="Times"/>
              </a:rPr>
              <a:t>Future Enhancements</a:t>
            </a:r>
            <a:endParaRPr b="1" sz="2300">
              <a:solidFill>
                <a:schemeClr val="dk1"/>
              </a:solidFill>
              <a:latin typeface="Times"/>
              <a:ea typeface="Times"/>
              <a:cs typeface="Times"/>
              <a:sym typeface="Times"/>
            </a:endParaRPr>
          </a:p>
        </p:txBody>
      </p:sp>
      <p:sp>
        <p:nvSpPr>
          <p:cNvPr id="238" name="Google Shape;238;p25"/>
          <p:cNvSpPr txBox="1"/>
          <p:nvPr/>
        </p:nvSpPr>
        <p:spPr>
          <a:xfrm>
            <a:off x="346375" y="858500"/>
            <a:ext cx="8402700" cy="372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600">
                <a:solidFill>
                  <a:schemeClr val="dk1"/>
                </a:solidFill>
                <a:latin typeface="Times"/>
                <a:ea typeface="Times"/>
                <a:cs typeface="Times"/>
                <a:sym typeface="Times"/>
              </a:rPr>
              <a:t>Expanded Role-Based Paths</a:t>
            </a:r>
            <a:r>
              <a:rPr lang="en-US" sz="1600">
                <a:solidFill>
                  <a:schemeClr val="dk1"/>
                </a:solidFill>
                <a:latin typeface="Times"/>
                <a:ea typeface="Times"/>
                <a:cs typeface="Times"/>
                <a:sym typeface="Times"/>
              </a:rPr>
              <a:t>: New modules for Investments, Compliance, IT, and Portfolio teams</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b="1" lang="en-US" sz="1600">
                <a:solidFill>
                  <a:schemeClr val="dk1"/>
                </a:solidFill>
                <a:latin typeface="Times"/>
                <a:ea typeface="Times"/>
                <a:cs typeface="Times"/>
                <a:sym typeface="Times"/>
              </a:rPr>
              <a:t>Stronger Manager Analytics</a:t>
            </a:r>
            <a:r>
              <a:rPr lang="en-US" sz="1600">
                <a:solidFill>
                  <a:schemeClr val="dk1"/>
                </a:solidFill>
                <a:latin typeface="Times"/>
                <a:ea typeface="Times"/>
                <a:cs typeface="Times"/>
                <a:sym typeface="Times"/>
              </a:rPr>
              <a:t>: Skill-gap insights, team benchmarking, automated module assignments</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b="1" lang="en-US" sz="1600">
                <a:solidFill>
                  <a:schemeClr val="dk1"/>
                </a:solidFill>
                <a:latin typeface="Times"/>
                <a:ea typeface="Times"/>
                <a:cs typeface="Times"/>
                <a:sym typeface="Times"/>
              </a:rPr>
              <a:t>Richer AI Tutoring</a:t>
            </a:r>
            <a:r>
              <a:rPr lang="en-US" sz="1600">
                <a:solidFill>
                  <a:schemeClr val="dk1"/>
                </a:solidFill>
                <a:latin typeface="Times"/>
                <a:ea typeface="Times"/>
                <a:cs typeface="Times"/>
                <a:sym typeface="Times"/>
              </a:rPr>
              <a:t>: Advanced prompting lessons, scenario-based practice</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b="1" lang="en-US" sz="1600">
                <a:solidFill>
                  <a:schemeClr val="dk1"/>
                </a:solidFill>
                <a:latin typeface="Times"/>
                <a:ea typeface="Times"/>
                <a:cs typeface="Times"/>
                <a:sym typeface="Times"/>
              </a:rPr>
              <a:t>Deeper Tool Integration</a:t>
            </a:r>
            <a:r>
              <a:rPr lang="en-US" sz="1600">
                <a:solidFill>
                  <a:schemeClr val="dk1"/>
                </a:solidFill>
                <a:latin typeface="Times"/>
                <a:ea typeface="Times"/>
                <a:cs typeface="Times"/>
                <a:sym typeface="Times"/>
              </a:rPr>
              <a:t>: In-context guidance within Athena and Copilot</a:t>
            </a:r>
            <a:endParaRPr sz="1600">
              <a:solidFill>
                <a:schemeClr val="dk1"/>
              </a:solidFill>
              <a:latin typeface="Times"/>
              <a:ea typeface="Times"/>
              <a:cs typeface="Times"/>
              <a:sym typeface="Times"/>
            </a:endParaRPr>
          </a:p>
          <a:p>
            <a:pPr indent="0" lvl="0" marL="0" rtl="0" algn="l">
              <a:lnSpc>
                <a:spcPct val="115000"/>
              </a:lnSpc>
              <a:spcBef>
                <a:spcPts val="1200"/>
              </a:spcBef>
              <a:spcAft>
                <a:spcPts val="0"/>
              </a:spcAft>
              <a:buNone/>
            </a:pPr>
            <a:r>
              <a:rPr b="1" lang="en-US" sz="1600">
                <a:solidFill>
                  <a:schemeClr val="dk1"/>
                </a:solidFill>
                <a:latin typeface="Times"/>
                <a:ea typeface="Times"/>
                <a:cs typeface="Times"/>
                <a:sym typeface="Times"/>
              </a:rPr>
              <a:t>Smarter Document Handling</a:t>
            </a:r>
            <a:r>
              <a:rPr lang="en-US" sz="1600">
                <a:solidFill>
                  <a:schemeClr val="dk1"/>
                </a:solidFill>
                <a:latin typeface="Times"/>
                <a:ea typeface="Times"/>
                <a:cs typeface="Times"/>
                <a:sym typeface="Times"/>
              </a:rPr>
              <a:t>: Multi-document comparison, improved templates</a:t>
            </a:r>
            <a:endParaRPr sz="1600">
              <a:solidFill>
                <a:schemeClr val="dk1"/>
              </a:solidFill>
              <a:latin typeface="Times"/>
              <a:ea typeface="Times"/>
              <a:cs typeface="Times"/>
              <a:sym typeface="Times"/>
            </a:endParaRPr>
          </a:p>
          <a:p>
            <a:pPr indent="0" lvl="0" marL="0" rtl="0" algn="l">
              <a:lnSpc>
                <a:spcPct val="115000"/>
              </a:lnSpc>
              <a:spcBef>
                <a:spcPts val="1200"/>
              </a:spcBef>
              <a:spcAft>
                <a:spcPts val="1200"/>
              </a:spcAft>
              <a:buNone/>
            </a:pPr>
            <a:r>
              <a:rPr b="1" lang="en-US" sz="1600">
                <a:solidFill>
                  <a:schemeClr val="dk1"/>
                </a:solidFill>
                <a:latin typeface="Times"/>
                <a:ea typeface="Times"/>
                <a:cs typeface="Times"/>
                <a:sym typeface="Times"/>
              </a:rPr>
              <a:t>Enterprise Knowledge Integration</a:t>
            </a:r>
            <a:r>
              <a:rPr lang="en-US" sz="1600">
                <a:solidFill>
                  <a:schemeClr val="dk1"/>
                </a:solidFill>
                <a:latin typeface="Times"/>
                <a:ea typeface="Times"/>
                <a:cs typeface="Times"/>
                <a:sym typeface="Times"/>
              </a:rPr>
              <a:t>: Connect internal research, compliance manuals, and product documents</a:t>
            </a:r>
            <a:endParaRPr sz="1600">
              <a:solidFill>
                <a:schemeClr val="dk1"/>
              </a:solidFill>
              <a:latin typeface="Times"/>
              <a:ea typeface="Times"/>
              <a:cs typeface="Times"/>
              <a:sym typeface="Time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cxnSp>
        <p:nvCxnSpPr>
          <p:cNvPr id="244" name="Google Shape;244;p26"/>
          <p:cNvCxnSpPr/>
          <p:nvPr/>
        </p:nvCxnSpPr>
        <p:spPr>
          <a:xfrm>
            <a:off x="2209800" y="3486150"/>
            <a:ext cx="5486400" cy="0"/>
          </a:xfrm>
          <a:prstGeom prst="straightConnector1">
            <a:avLst/>
          </a:prstGeom>
          <a:noFill/>
          <a:ln cap="flat" cmpd="sng" w="9525">
            <a:solidFill>
              <a:srgbClr val="FFFFFF"/>
            </a:solidFill>
            <a:prstDash val="solid"/>
            <a:round/>
            <a:headEnd len="med" w="med" type="none"/>
            <a:tailEnd len="med" w="med" type="none"/>
          </a:ln>
        </p:spPr>
      </p:cxnSp>
      <p:sp>
        <p:nvSpPr>
          <p:cNvPr id="245" name="Google Shape;245;p26"/>
          <p:cNvSpPr txBox="1"/>
          <p:nvPr/>
        </p:nvSpPr>
        <p:spPr>
          <a:xfrm>
            <a:off x="2133600" y="3638550"/>
            <a:ext cx="5257800" cy="685800"/>
          </a:xfrm>
          <a:prstGeom prst="rect">
            <a:avLst/>
          </a:prstGeom>
          <a:noFill/>
          <a:ln>
            <a:noFill/>
          </a:ln>
        </p:spPr>
        <p:txBody>
          <a:bodyPr anchorCtr="0" anchor="t" bIns="45700" lIns="91425" spcFirstLastPara="1" rIns="91425" wrap="square" tIns="45700">
            <a:noAutofit/>
          </a:bodyPr>
          <a:lstStyle/>
          <a:p>
            <a:pPr indent="-3175" lvl="0" marL="3175" marR="0" rtl="0" algn="l">
              <a:spcBef>
                <a:spcPts val="0"/>
              </a:spcBef>
              <a:spcAft>
                <a:spcPts val="0"/>
              </a:spcAft>
              <a:buNone/>
            </a:pPr>
            <a:r>
              <a:rPr b="0" i="0" lang="en-US" sz="1600" u="none" cap="none" strike="noStrike">
                <a:solidFill>
                  <a:srgbClr val="FFFFFF"/>
                </a:solidFill>
                <a:latin typeface="Open Sans"/>
                <a:ea typeface="Open Sans"/>
                <a:cs typeface="Open Sans"/>
                <a:sym typeface="Open Sans"/>
              </a:rPr>
              <a:t>Click to edit Presenter Name</a:t>
            </a:r>
            <a:endParaRPr/>
          </a:p>
          <a:p>
            <a:pPr indent="-3175" lvl="0" marL="3175" marR="0" rtl="0" algn="l">
              <a:spcBef>
                <a:spcPts val="320"/>
              </a:spcBef>
              <a:spcAft>
                <a:spcPts val="0"/>
              </a:spcAft>
              <a:buNone/>
            </a:pPr>
            <a:r>
              <a:rPr b="0" i="1" lang="en-US" sz="1600" u="none" cap="none" strike="noStrike">
                <a:solidFill>
                  <a:srgbClr val="FFFFFF"/>
                </a:solidFill>
                <a:latin typeface="Open Sans"/>
                <a:ea typeface="Open Sans"/>
                <a:cs typeface="Open Sans"/>
                <a:sym typeface="Open Sans"/>
              </a:rPr>
              <a:t>Presenter Title</a:t>
            </a:r>
            <a:endParaRPr/>
          </a:p>
        </p:txBody>
      </p:sp>
      <p:sp>
        <p:nvSpPr>
          <p:cNvPr id="246" name="Google Shape;246;p26"/>
          <p:cNvSpPr txBox="1"/>
          <p:nvPr/>
        </p:nvSpPr>
        <p:spPr>
          <a:xfrm>
            <a:off x="3879475" y="1956150"/>
            <a:ext cx="107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latin typeface="Times"/>
                <a:ea typeface="Times"/>
                <a:cs typeface="Times"/>
                <a:sym typeface="Times"/>
              </a:rPr>
              <a:t>Q&amp;A</a:t>
            </a:r>
            <a:endParaRPr b="1" sz="2800">
              <a:solidFill>
                <a:schemeClr val="dk1"/>
              </a:solidFill>
              <a:latin typeface="Times"/>
              <a:ea typeface="Times"/>
              <a:cs typeface="Times"/>
              <a:sym typeface="Time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cxnSp>
        <p:nvCxnSpPr>
          <p:cNvPr id="252" name="Google Shape;252;p27"/>
          <p:cNvCxnSpPr/>
          <p:nvPr/>
        </p:nvCxnSpPr>
        <p:spPr>
          <a:xfrm>
            <a:off x="2209800" y="3486150"/>
            <a:ext cx="5486400" cy="0"/>
          </a:xfrm>
          <a:prstGeom prst="straightConnector1">
            <a:avLst/>
          </a:prstGeom>
          <a:noFill/>
          <a:ln cap="flat" cmpd="sng" w="9525">
            <a:solidFill>
              <a:srgbClr val="FFFFFF"/>
            </a:solidFill>
            <a:prstDash val="solid"/>
            <a:round/>
            <a:headEnd len="med" w="med" type="none"/>
            <a:tailEnd len="med" w="med" type="none"/>
          </a:ln>
        </p:spPr>
      </p:cxnSp>
      <p:sp>
        <p:nvSpPr>
          <p:cNvPr id="253" name="Google Shape;253;p27"/>
          <p:cNvSpPr txBox="1"/>
          <p:nvPr/>
        </p:nvSpPr>
        <p:spPr>
          <a:xfrm>
            <a:off x="2133600" y="3638550"/>
            <a:ext cx="5257800" cy="685800"/>
          </a:xfrm>
          <a:prstGeom prst="rect">
            <a:avLst/>
          </a:prstGeom>
          <a:noFill/>
          <a:ln>
            <a:noFill/>
          </a:ln>
        </p:spPr>
        <p:txBody>
          <a:bodyPr anchorCtr="0" anchor="t" bIns="45700" lIns="91425" spcFirstLastPara="1" rIns="91425" wrap="square" tIns="45700">
            <a:noAutofit/>
          </a:bodyPr>
          <a:lstStyle/>
          <a:p>
            <a:pPr indent="-3175" lvl="0" marL="3175" marR="0" rtl="0" algn="l">
              <a:spcBef>
                <a:spcPts val="0"/>
              </a:spcBef>
              <a:spcAft>
                <a:spcPts val="0"/>
              </a:spcAft>
              <a:buNone/>
            </a:pPr>
            <a:r>
              <a:rPr b="0" i="0" lang="en-US" sz="1600" u="none" cap="none" strike="noStrike">
                <a:solidFill>
                  <a:srgbClr val="FFFFFF"/>
                </a:solidFill>
                <a:latin typeface="Open Sans"/>
                <a:ea typeface="Open Sans"/>
                <a:cs typeface="Open Sans"/>
                <a:sym typeface="Open Sans"/>
              </a:rPr>
              <a:t>Click to edit Presenter Name</a:t>
            </a:r>
            <a:endParaRPr/>
          </a:p>
          <a:p>
            <a:pPr indent="-3175" lvl="0" marL="3175" marR="0" rtl="0" algn="l">
              <a:spcBef>
                <a:spcPts val="320"/>
              </a:spcBef>
              <a:spcAft>
                <a:spcPts val="0"/>
              </a:spcAft>
              <a:buNone/>
            </a:pPr>
            <a:r>
              <a:rPr b="0" i="1" lang="en-US" sz="1600" u="none" cap="none" strike="noStrike">
                <a:solidFill>
                  <a:srgbClr val="FFFFFF"/>
                </a:solidFill>
                <a:latin typeface="Open Sans"/>
                <a:ea typeface="Open Sans"/>
                <a:cs typeface="Open Sans"/>
                <a:sym typeface="Open Sans"/>
              </a:rPr>
              <a:t>Presenter Title</a:t>
            </a:r>
            <a:endParaRPr/>
          </a:p>
        </p:txBody>
      </p:sp>
      <p:sp>
        <p:nvSpPr>
          <p:cNvPr id="254" name="Google Shape;254;p27"/>
          <p:cNvSpPr txBox="1"/>
          <p:nvPr/>
        </p:nvSpPr>
        <p:spPr>
          <a:xfrm>
            <a:off x="3556800" y="2032775"/>
            <a:ext cx="203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latin typeface="Times"/>
                <a:ea typeface="Times"/>
                <a:cs typeface="Times"/>
                <a:sym typeface="Times"/>
              </a:rPr>
              <a:t>Thank You</a:t>
            </a:r>
            <a:endParaRPr b="1" sz="2800">
              <a:solidFill>
                <a:schemeClr val="dk1"/>
              </a:solidFill>
              <a:latin typeface="Times"/>
              <a:ea typeface="Times"/>
              <a:cs typeface="Times"/>
              <a:sym typeface="Times"/>
            </a:endParaRPr>
          </a:p>
        </p:txBody>
      </p:sp>
    </p:spTree>
  </p:cSld>
  <p:clrMapOvr>
    <a:masterClrMapping/>
  </p:clrMapOvr>
</p:sld>
</file>

<file path=ppt/theme/theme1.xml><?xml version="1.0" encoding="utf-8"?>
<a:theme xmlns:a="http://schemas.openxmlformats.org/drawingml/2006/main" xmlns:r="http://schemas.openxmlformats.org/officeDocument/2006/relationships" name="CMU PPT Theme">
  <a:themeElements>
    <a:clrScheme name="Custom 1">
      <a:dk1>
        <a:srgbClr val="000000"/>
      </a:dk1>
      <a:lt1>
        <a:srgbClr val="FFFFFF"/>
      </a:lt1>
      <a:dk2>
        <a:srgbClr val="75787B"/>
      </a:dk2>
      <a:lt2>
        <a:srgbClr val="C8C9C7"/>
      </a:lt2>
      <a:accent1>
        <a:srgbClr val="BB0000"/>
      </a:accent1>
      <a:accent2>
        <a:srgbClr val="75787B"/>
      </a:accent2>
      <a:accent3>
        <a:srgbClr val="00833C"/>
      </a:accent3>
      <a:accent4>
        <a:srgbClr val="F2A900"/>
      </a:accent4>
      <a:accent5>
        <a:srgbClr val="002C71"/>
      </a:accent5>
      <a:accent6>
        <a:srgbClr val="C8C9C7"/>
      </a:accent6>
      <a:hlink>
        <a:srgbClr val="BB0000"/>
      </a:hlink>
      <a:folHlink>
        <a:srgbClr val="82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